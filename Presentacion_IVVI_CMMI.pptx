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F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16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4114800"/>
            <a:ext cx="3657600" cy="3657600"/>
          </a:xfrm>
          <a:prstGeom prst="ellipse">
            <a:avLst/>
          </a:prstGeom>
          <a:solidFill>
            <a:srgbClr val="16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Diagnóstico Organizacional y Análisis de Madurez</a:t>
            </a:r>
            <a:br/>
            <a:r>
              <a:t>de Procesos de Inversiones IVVI S.A.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DAE6F5"/>
                </a:solidFill>
                <a:latin typeface="Segoe UI"/>
              </a:defRPr>
            </a:pPr>
            <a:r>
              <a:t>Orientado por el Marco de Referencia CMMI Nivel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81247" y="3291840"/>
            <a:ext cx="5029200" cy="411480"/>
          </a:xfrm>
          <a:prstGeom prst="round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Asignatura: Ingeniería de Software 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114800"/>
            <a:ext cx="45720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E87722"/>
                </a:solidFill>
                <a:latin typeface="Segoe UI"/>
              </a:defRPr>
            </a:pPr>
            <a:r>
              <a:t>INTEGRANTES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Br. Lia Carely Cruz Mendoza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Br. Lizeth Abigail Urroz Gutiérrez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Br. Monserrat Faviana Hernández Godínez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Br. Roger Daniel Cruz Flores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4114800"/>
            <a:ext cx="420624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E87722"/>
                </a:solidFill>
                <a:latin typeface="Segoe UI"/>
              </a:defRPr>
            </a:pPr>
            <a:r>
              <a:t>TUTOR</a:t>
            </a:r>
          </a:p>
          <a:p>
            <a:pPr>
              <a:spcAft>
                <a:spcPts val="16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Ing. Roberto Alfaro Arriola</a:t>
            </a:r>
          </a:p>
          <a:p>
            <a:pPr>
              <a:spcAft>
                <a:spcPts val="400"/>
              </a:spcAft>
              <a:defRPr sz="1100" b="1">
                <a:solidFill>
                  <a:srgbClr val="E87722"/>
                </a:solidFill>
                <a:latin typeface="Segoe UI"/>
              </a:defRPr>
            </a:pPr>
            <a:r>
              <a:t>LUGAR Y AÑO</a:t>
            </a:r>
          </a:p>
          <a:p>
            <a:pPr>
              <a:defRPr sz="1200">
                <a:solidFill>
                  <a:srgbClr val="FFFFFF"/>
                </a:solidFill>
                <a:latin typeface="Segoe UI"/>
              </a:defRPr>
            </a:pPr>
            <a:r>
              <a:t>Managua, Nicaragua |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 i="0">
                <a:solidFill>
                  <a:srgbClr val="E87722"/>
                </a:solidFill>
                <a:latin typeface="Segoe UI"/>
              </a:defRPr>
            </a:pPr>
            <a:r>
              <a:t>ANTES DE EMPEZAR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 i="0">
                <a:solidFill>
                  <a:srgbClr val="0B2F64"/>
                </a:solidFill>
                <a:latin typeface="Segoe UI"/>
              </a:defRPr>
            </a:pPr>
            <a:r>
              <a:t>Conceptos base del modelo CMMI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828800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109728" cy="2194560"/>
          </a:xfrm>
          <a:prstGeom prst="rect">
            <a:avLst/>
          </a:prstGeom>
          <a:solidFill>
            <a:srgbClr val="0B2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54864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>
                <a:latin typeface="Segoe UI"/>
              </a:defRPr>
            </a:pPr>
            <a:r>
              <a:t>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828800"/>
            <a:ext cx="40690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B2F64"/>
                </a:solidFill>
                <a:latin typeface="Segoe UI"/>
              </a:defRPr>
            </a:pPr>
            <a:r>
              <a:t>Vista &amp; Dominio</a:t>
            </a:r>
          </a:p>
          <a:p>
            <a:pPr>
              <a:spcAft>
                <a:spcPts val="200"/>
              </a:spcAft>
              <a:defRPr sz="1100">
                <a:solidFill>
                  <a:srgbClr val="555F6E"/>
                </a:solidFill>
                <a:latin typeface="Segoe UI"/>
              </a:defRPr>
            </a:pPr>
            <a:r>
              <a:t>Permiten enfocar la aplicación del modelo según las necesidades de la organización. Dominios: DEV, SEC, SVC, DATA, PPL, SAF, SPM, VRT.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645920"/>
            <a:ext cx="109728" cy="21945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828800"/>
            <a:ext cx="54864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>
                <a:latin typeface="Segoe UI"/>
              </a:defRPr>
            </a:pPr>
            <a:r>
              <a:t>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1828800"/>
            <a:ext cx="40690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B2F64"/>
                </a:solidFill>
                <a:latin typeface="Segoe UI"/>
              </a:defRPr>
            </a:pPr>
            <a:r>
              <a:t>Áreas de Práctica (PA)</a:t>
            </a:r>
          </a:p>
          <a:p>
            <a:pPr>
              <a:spcAft>
                <a:spcPts val="200"/>
              </a:spcAft>
              <a:defRPr sz="1100">
                <a:solidFill>
                  <a:srgbClr val="555F6E"/>
                </a:solidFill>
                <a:latin typeface="Segoe UI"/>
              </a:defRPr>
            </a:pPr>
            <a:r>
              <a:t>Conjunto de prácticas con un Intent (qué lograr) y un Value (valor de negocio para la organización).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1480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114800"/>
            <a:ext cx="109728" cy="21945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297680"/>
            <a:ext cx="54864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>
                <a:latin typeface="Segoe UI"/>
              </a:defRPr>
            </a:pPr>
            <a:r>
              <a:t>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4297680"/>
            <a:ext cx="40690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B2F64"/>
                </a:solidFill>
                <a:latin typeface="Segoe UI"/>
              </a:defRPr>
            </a:pPr>
            <a:r>
              <a:t>4 Categorías</a:t>
            </a:r>
          </a:p>
          <a:p>
            <a:pPr>
              <a:spcAft>
                <a:spcPts val="200"/>
              </a:spcAft>
              <a:defRPr sz="1100">
                <a:solidFill>
                  <a:srgbClr val="555F6E"/>
                </a:solidFill>
                <a:latin typeface="Segoe UI"/>
              </a:defRPr>
            </a:pPr>
            <a:r>
              <a:t>Doing · Managing · Enabling · Improving como el camino natural de mejora y evolución de capacidad.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411480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4114800"/>
            <a:ext cx="109728" cy="2194560"/>
          </a:xfrm>
          <a:prstGeom prst="rect">
            <a:avLst/>
          </a:prstGeom>
          <a:solidFill>
            <a:srgbClr val="0B2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4297680"/>
            <a:ext cx="54864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>
                <a:latin typeface="Segoe UI"/>
              </a:defRPr>
            </a:pPr>
            <a:r>
              <a:t>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4297680"/>
            <a:ext cx="40690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B2F64"/>
                </a:solidFill>
                <a:latin typeface="Segoe UI"/>
              </a:defRPr>
            </a:pPr>
            <a:r>
              <a:t>Niveles de Madurez</a:t>
            </a:r>
          </a:p>
          <a:p>
            <a:pPr>
              <a:spcAft>
                <a:spcPts val="200"/>
              </a:spcAft>
              <a:defRPr sz="1100">
                <a:solidFill>
                  <a:srgbClr val="555F6E"/>
                </a:solidFill>
                <a:latin typeface="Segoe UI"/>
              </a:defRPr>
            </a:pPr>
            <a:r>
              <a:t>El plan maestro se orienta al Nivel de Madurez 2 (ML2), fortaleciendo los procesos planificados, controlados y medibles a nivel de proyecto.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64922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 i="0">
                <a:solidFill>
                  <a:srgbClr val="555F6E"/>
                </a:solidFill>
                <a:latin typeface="Segoe UI"/>
              </a:defRPr>
            </a:pPr>
            <a:r>
              <a:t>CMMI Performance Solutions V3.0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 i="0">
                <a:solidFill>
                  <a:srgbClr val="E87722"/>
                </a:solidFill>
                <a:latin typeface="Segoe UI"/>
              </a:defRPr>
            </a:pPr>
            <a:r>
              <a:t>CONTEXTO DE NEGOCIO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 i="0">
                <a:solidFill>
                  <a:srgbClr val="0B2F64"/>
                </a:solidFill>
                <a:latin typeface="Segoe UI"/>
              </a:defRPr>
            </a:pPr>
            <a:r>
              <a:t>Contexto Organizacional de IVVI S.A.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828800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109728" cy="2194560"/>
          </a:xfrm>
          <a:prstGeom prst="rect">
            <a:avLst/>
          </a:prstGeom>
          <a:solidFill>
            <a:srgbClr val="0B2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54864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>
                <a:latin typeface="Segoe UI"/>
              </a:defRPr>
            </a:pPr>
            <a:r>
              <a:t>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828800"/>
            <a:ext cx="40690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B2F64"/>
                </a:solidFill>
                <a:latin typeface="Segoe UI"/>
              </a:defRPr>
            </a:pPr>
            <a:r>
              <a:t>Giro de la Empresa</a:t>
            </a:r>
          </a:p>
          <a:p>
            <a:pPr>
              <a:spcAft>
                <a:spcPts val="200"/>
              </a:spcAft>
              <a:defRPr sz="1100">
                <a:solidFill>
                  <a:srgbClr val="555F6E"/>
                </a:solidFill>
                <a:latin typeface="Segoe UI"/>
              </a:defRPr>
            </a:pPr>
            <a:r>
              <a:t>Inversiones IVVI S.A. es una empresa dedicada a la importación, fraccionamiento, comercialización y distribución de aceite de palma.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645920"/>
            <a:ext cx="109728" cy="21945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828800"/>
            <a:ext cx="54864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>
                <a:latin typeface="Segoe UI"/>
              </a:defRPr>
            </a:pPr>
            <a:r>
              <a:t>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1828800"/>
            <a:ext cx="40690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B2F64"/>
                </a:solidFill>
                <a:latin typeface="Segoe UI"/>
              </a:defRPr>
            </a:pPr>
            <a:r>
              <a:t>Necesidad Crítica</a:t>
            </a:r>
          </a:p>
          <a:p>
            <a:pPr>
              <a:spcAft>
                <a:spcPts val="200"/>
              </a:spcAft>
              <a:defRPr sz="1100">
                <a:solidFill>
                  <a:srgbClr val="555F6E"/>
                </a:solidFill>
                <a:latin typeface="Segoe UI"/>
              </a:defRPr>
            </a:pPr>
            <a:r>
              <a:t>Necesidad de fortalecer la gestión por procesos organizacionales antes de consolidar el desarrollo e implementación del Sistema Web Integral.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1480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114800"/>
            <a:ext cx="109728" cy="21945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297680"/>
            <a:ext cx="54864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>
                <a:latin typeface="Segoe UI"/>
              </a:defRPr>
            </a:pPr>
            <a:r>
              <a:t>⚠️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4297680"/>
            <a:ext cx="40690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B2F64"/>
                </a:solidFill>
                <a:latin typeface="Segoe UI"/>
              </a:defRPr>
            </a:pPr>
            <a:r>
              <a:t>Problemas Principales</a:t>
            </a:r>
          </a:p>
          <a:p>
            <a:pPr>
              <a:spcAft>
                <a:spcPts val="200"/>
              </a:spcAft>
              <a:defRPr sz="1100">
                <a:solidFill>
                  <a:srgbClr val="555F6E"/>
                </a:solidFill>
                <a:latin typeface="Segoe UI"/>
              </a:defRPr>
            </a:pPr>
            <a:r>
              <a:t>Brechas detectadas: documentación limitada, dependencia del conocimiento tácito, falta de indicadores cuantitativos y necesidad de trazabilidad.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411480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4114800"/>
            <a:ext cx="109728" cy="2194560"/>
          </a:xfrm>
          <a:prstGeom prst="rect">
            <a:avLst/>
          </a:prstGeom>
          <a:solidFill>
            <a:srgbClr val="0B2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4297680"/>
            <a:ext cx="54864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>
                <a:latin typeface="Segoe UI"/>
              </a:defRPr>
            </a:pPr>
            <a:r>
              <a:t>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4297680"/>
            <a:ext cx="40690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B2F64"/>
                </a:solidFill>
                <a:latin typeface="Segoe UI"/>
              </a:defRPr>
            </a:pPr>
            <a:r>
              <a:t>Marco de Trabajo</a:t>
            </a:r>
          </a:p>
          <a:p>
            <a:pPr>
              <a:spcAft>
                <a:spcPts val="200"/>
              </a:spcAft>
              <a:defRPr sz="1100">
                <a:solidFill>
                  <a:srgbClr val="555F6E"/>
                </a:solidFill>
                <a:latin typeface="Segoe UI"/>
              </a:defRPr>
            </a:pPr>
            <a:r>
              <a:t>El modelo CMMI V3.0 Nivel 2 se utiliza como marco de referencia metodológico para diagnosticar, planificar, controlar y mejorar los procesos.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64922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 i="0">
                <a:solidFill>
                  <a:srgbClr val="555F6E"/>
                </a:solidFill>
                <a:latin typeface="Segoe UI"/>
              </a:defRPr>
            </a:pPr>
            <a:r>
              <a:t>Ingeniería de Software 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 i="0">
                <a:solidFill>
                  <a:srgbClr val="E87722"/>
                </a:solidFill>
                <a:latin typeface="Segoe UI"/>
              </a:defRPr>
            </a:pPr>
            <a:r>
              <a:t>METODOLOGÍA DE MEJORA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 i="0">
                <a:solidFill>
                  <a:srgbClr val="0B2F64"/>
                </a:solidFill>
                <a:latin typeface="Segoe UI"/>
              </a:defRPr>
            </a:pPr>
            <a:r>
              <a:t>Ruta Metodológica de Implementación CMMI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828800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" y="2560320"/>
            <a:ext cx="10149840" cy="36576"/>
          </a:xfrm>
          <a:prstGeom prst="rect">
            <a:avLst/>
          </a:prstGeom>
          <a:solidFill>
            <a:srgbClr val="D2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2194560"/>
            <a:ext cx="731520" cy="731520"/>
          </a:xfrm>
          <a:prstGeom prst="ellipse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3108960"/>
            <a:ext cx="15544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1000" b="1">
                <a:solidFill>
                  <a:srgbClr val="E87722"/>
                </a:solidFill>
                <a:latin typeface="Segoe UI"/>
              </a:defRPr>
            </a:pPr>
            <a:r>
              <a:t>FASE 1</a:t>
            </a:r>
          </a:p>
          <a:p>
            <a:pPr algn="ctr">
              <a:spcAft>
                <a:spcPts val="400"/>
              </a:spcAft>
              <a:defRPr sz="1200" b="1">
                <a:solidFill>
                  <a:srgbClr val="0B2F64"/>
                </a:solidFill>
                <a:latin typeface="Segoe UI"/>
              </a:defRPr>
            </a:pPr>
            <a:r>
              <a:t>Diagnóstico Inicial</a:t>
            </a:r>
          </a:p>
          <a:p>
            <a:pPr algn="ctr">
              <a:defRPr sz="1000">
                <a:solidFill>
                  <a:srgbClr val="555F6E"/>
                </a:solidFill>
                <a:latin typeface="Segoe UI"/>
              </a:defRPr>
            </a:pPr>
            <a:r>
              <a:t>Evaluar línea base y brechas de IVVI.</a:t>
            </a:r>
          </a:p>
        </p:txBody>
      </p:sp>
      <p:sp>
        <p:nvSpPr>
          <p:cNvPr id="8" name="Oval 7"/>
          <p:cNvSpPr/>
          <p:nvPr/>
        </p:nvSpPr>
        <p:spPr>
          <a:xfrm>
            <a:off x="2286000" y="2194560"/>
            <a:ext cx="731520" cy="731520"/>
          </a:xfrm>
          <a:prstGeom prst="ellipse">
            <a:avLst/>
          </a:prstGeom>
          <a:solidFill>
            <a:srgbClr val="0B2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20" y="3108960"/>
            <a:ext cx="15544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1000" b="1">
                <a:solidFill>
                  <a:srgbClr val="0B2F64"/>
                </a:solidFill>
                <a:latin typeface="Segoe UI"/>
              </a:defRPr>
            </a:pPr>
            <a:r>
              <a:t>FASE 2</a:t>
            </a:r>
          </a:p>
          <a:p>
            <a:pPr algn="ctr">
              <a:spcAft>
                <a:spcPts val="400"/>
              </a:spcAft>
              <a:defRPr sz="1200" b="1">
                <a:solidFill>
                  <a:srgbClr val="0B2F64"/>
                </a:solidFill>
                <a:latin typeface="Segoe UI"/>
              </a:defRPr>
            </a:pPr>
            <a:r>
              <a:t>Compromiso</a:t>
            </a:r>
          </a:p>
          <a:p>
            <a:pPr algn="ctr">
              <a:defRPr sz="1000">
                <a:solidFill>
                  <a:srgbClr val="555F6E"/>
                </a:solidFill>
                <a:latin typeface="Segoe UI"/>
              </a:defRPr>
            </a:pPr>
            <a:r>
              <a:t>Asegurar patrocinio y estructura RACI.</a:t>
            </a:r>
          </a:p>
        </p:txBody>
      </p:sp>
      <p:sp>
        <p:nvSpPr>
          <p:cNvPr id="10" name="Oval 9"/>
          <p:cNvSpPr/>
          <p:nvPr/>
        </p:nvSpPr>
        <p:spPr>
          <a:xfrm>
            <a:off x="3931920" y="2194560"/>
            <a:ext cx="731520" cy="731520"/>
          </a:xfrm>
          <a:prstGeom prst="ellipse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3108960"/>
            <a:ext cx="15544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1000" b="1">
                <a:solidFill>
                  <a:srgbClr val="E87722"/>
                </a:solidFill>
                <a:latin typeface="Segoe UI"/>
              </a:defRPr>
            </a:pPr>
            <a:r>
              <a:t>FASE 3</a:t>
            </a:r>
          </a:p>
          <a:p>
            <a:pPr algn="ctr">
              <a:spcAft>
                <a:spcPts val="400"/>
              </a:spcAft>
              <a:defRPr sz="1200" b="1">
                <a:solidFill>
                  <a:srgbClr val="0B2F64"/>
                </a:solidFill>
                <a:latin typeface="Segoe UI"/>
              </a:defRPr>
            </a:pPr>
            <a:r>
              <a:t>Plan y Diseño</a:t>
            </a:r>
          </a:p>
          <a:p>
            <a:pPr algn="ctr">
              <a:defRPr sz="1000">
                <a:solidFill>
                  <a:srgbClr val="555F6E"/>
                </a:solidFill>
                <a:latin typeface="Segoe UI"/>
              </a:defRPr>
            </a:pPr>
            <a:r>
              <a:t>Definir alcance y procesos TO-BE.</a:t>
            </a:r>
          </a:p>
        </p:txBody>
      </p:sp>
      <p:sp>
        <p:nvSpPr>
          <p:cNvPr id="12" name="Oval 11"/>
          <p:cNvSpPr/>
          <p:nvPr/>
        </p:nvSpPr>
        <p:spPr>
          <a:xfrm>
            <a:off x="5577840" y="2194560"/>
            <a:ext cx="731520" cy="731520"/>
          </a:xfrm>
          <a:prstGeom prst="ellipse">
            <a:avLst/>
          </a:prstGeom>
          <a:solidFill>
            <a:srgbClr val="0B2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3108960"/>
            <a:ext cx="15544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1000" b="1">
                <a:solidFill>
                  <a:srgbClr val="0B2F64"/>
                </a:solidFill>
                <a:latin typeface="Segoe UI"/>
              </a:defRPr>
            </a:pPr>
            <a:r>
              <a:t>FASE 4</a:t>
            </a:r>
          </a:p>
          <a:p>
            <a:pPr algn="ctr">
              <a:spcAft>
                <a:spcPts val="400"/>
              </a:spcAft>
              <a:defRPr sz="1200" b="1">
                <a:solidFill>
                  <a:srgbClr val="0B2F64"/>
                </a:solidFill>
                <a:latin typeface="Segoe UI"/>
              </a:defRPr>
            </a:pPr>
            <a:r>
              <a:t>Capacitación</a:t>
            </a:r>
          </a:p>
          <a:p>
            <a:pPr algn="ctr">
              <a:defRPr sz="1000">
                <a:solidFill>
                  <a:srgbClr val="555F6E"/>
                </a:solidFill>
                <a:latin typeface="Segoe UI"/>
              </a:defRPr>
            </a:pPr>
            <a:r>
              <a:t>Entrenar al equipo y crear Wiki.</a:t>
            </a:r>
          </a:p>
        </p:txBody>
      </p:sp>
      <p:sp>
        <p:nvSpPr>
          <p:cNvPr id="14" name="Oval 13"/>
          <p:cNvSpPr/>
          <p:nvPr/>
        </p:nvSpPr>
        <p:spPr>
          <a:xfrm>
            <a:off x="7223760" y="2194560"/>
            <a:ext cx="731520" cy="731520"/>
          </a:xfrm>
          <a:prstGeom prst="ellipse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3108960"/>
            <a:ext cx="15544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1000" b="1">
                <a:solidFill>
                  <a:srgbClr val="E87722"/>
                </a:solidFill>
                <a:latin typeface="Segoe UI"/>
              </a:defRPr>
            </a:pPr>
            <a:r>
              <a:t>FASE 5</a:t>
            </a:r>
          </a:p>
          <a:p>
            <a:pPr algn="ctr">
              <a:spcAft>
                <a:spcPts val="400"/>
              </a:spcAft>
              <a:defRPr sz="1200" b="1">
                <a:solidFill>
                  <a:srgbClr val="0B2F64"/>
                </a:solidFill>
                <a:latin typeface="Segoe UI"/>
              </a:defRPr>
            </a:pPr>
            <a:r>
              <a:t>Despliegue</a:t>
            </a:r>
          </a:p>
          <a:p>
            <a:pPr algn="ctr">
              <a:defRPr sz="1000">
                <a:solidFill>
                  <a:srgbClr val="555F6E"/>
                </a:solidFill>
                <a:latin typeface="Segoe UI"/>
              </a:defRPr>
            </a:pPr>
            <a:r>
              <a:t>Ejecutar pilotos y medir KPIs.</a:t>
            </a:r>
          </a:p>
        </p:txBody>
      </p:sp>
      <p:sp>
        <p:nvSpPr>
          <p:cNvPr id="16" name="Oval 15"/>
          <p:cNvSpPr/>
          <p:nvPr/>
        </p:nvSpPr>
        <p:spPr>
          <a:xfrm>
            <a:off x="8869680" y="2194560"/>
            <a:ext cx="731520" cy="731520"/>
          </a:xfrm>
          <a:prstGeom prst="ellipse">
            <a:avLst/>
          </a:prstGeom>
          <a:solidFill>
            <a:srgbClr val="0B2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3108960"/>
            <a:ext cx="15544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1000" b="1">
                <a:solidFill>
                  <a:srgbClr val="0B2F64"/>
                </a:solidFill>
                <a:latin typeface="Segoe UI"/>
              </a:defRPr>
            </a:pPr>
            <a:r>
              <a:t>FASE 6</a:t>
            </a:r>
          </a:p>
          <a:p>
            <a:pPr algn="ctr">
              <a:spcAft>
                <a:spcPts val="400"/>
              </a:spcAft>
              <a:defRPr sz="1200" b="1">
                <a:solidFill>
                  <a:srgbClr val="0B2F64"/>
                </a:solidFill>
                <a:latin typeface="Segoe UI"/>
              </a:defRPr>
            </a:pPr>
            <a:r>
              <a:t>Verificación</a:t>
            </a:r>
          </a:p>
          <a:p>
            <a:pPr algn="ctr">
              <a:defRPr sz="1000">
                <a:solidFill>
                  <a:srgbClr val="555F6E"/>
                </a:solidFill>
                <a:latin typeface="Segoe UI"/>
              </a:defRPr>
            </a:pPr>
            <a:r>
              <a:t>Auditoría interna y GAP Analysis.</a:t>
            </a:r>
          </a:p>
        </p:txBody>
      </p:sp>
      <p:sp>
        <p:nvSpPr>
          <p:cNvPr id="18" name="Oval 17"/>
          <p:cNvSpPr/>
          <p:nvPr/>
        </p:nvSpPr>
        <p:spPr>
          <a:xfrm>
            <a:off x="10515600" y="2194560"/>
            <a:ext cx="731520" cy="731520"/>
          </a:xfrm>
          <a:prstGeom prst="ellipse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04120" y="3108960"/>
            <a:ext cx="15544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1000" b="1">
                <a:solidFill>
                  <a:srgbClr val="E87722"/>
                </a:solidFill>
                <a:latin typeface="Segoe UI"/>
              </a:defRPr>
            </a:pPr>
            <a:r>
              <a:t>FASE 7</a:t>
            </a:r>
          </a:p>
          <a:p>
            <a:pPr algn="ctr">
              <a:spcAft>
                <a:spcPts val="400"/>
              </a:spcAft>
              <a:defRPr sz="1200" b="1">
                <a:solidFill>
                  <a:srgbClr val="0B2F64"/>
                </a:solidFill>
                <a:latin typeface="Segoe UI"/>
              </a:defRPr>
            </a:pPr>
            <a:r>
              <a:t>Mejora Continua</a:t>
            </a:r>
          </a:p>
          <a:p>
            <a:pPr algn="ctr">
              <a:defRPr sz="1000">
                <a:solidFill>
                  <a:srgbClr val="555F6E"/>
                </a:solidFill>
                <a:latin typeface="Segoe UI"/>
              </a:defRPr>
            </a:pPr>
            <a:r>
              <a:t>Optimizar procesos y roadmap futuro.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303520"/>
            <a:ext cx="94457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1">
                <a:solidFill>
                  <a:srgbClr val="0B2F64"/>
                </a:solidFill>
                <a:latin typeface="Segoe UI"/>
              </a:defRPr>
            </a:pPr>
            <a:r>
              <a:t>Cada fase genera un entregable oficial que sirve como entrada para la siguiente, permitiendo una implementación progresiva, controlada y orientada a la mejora continua.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64922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 i="0">
                <a:solidFill>
                  <a:srgbClr val="555F6E"/>
                </a:solidFill>
                <a:latin typeface="Segoe UI"/>
              </a:defRPr>
            </a:pPr>
            <a:r>
              <a:t>Ingeniería de Software II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0B2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-457200"/>
            <a:ext cx="2286000" cy="2286000"/>
          </a:xfrm>
          <a:prstGeom prst="ellipse">
            <a:avLst/>
          </a:prstGeom>
          <a:solidFill>
            <a:srgbClr val="16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371600" cy="1645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600" b="1">
                <a:solidFill>
                  <a:srgbClr val="194585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82880"/>
            <a:ext cx="7315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 b="1">
                <a:solidFill>
                  <a:srgbClr val="E87722"/>
                </a:solidFill>
                <a:latin typeface="Segoe UI"/>
              </a:defRPr>
            </a:pPr>
            <a:r>
              <a:t>I N I C I 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57200"/>
            <a:ext cx="731520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Diagnóstico Inicial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365760"/>
            <a:ext cx="91440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600">
                <a:latin typeface="Segoe UI"/>
              </a:defRPr>
            </a:pPr>
            <a:r>
              <a:t>🔍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60" y="1645920"/>
            <a:ext cx="5425135" cy="5212080"/>
          </a:xfrm>
          <a:prstGeom prst="rect">
            <a:avLst/>
          </a:prstGeom>
          <a:solidFill>
            <a:srgbClr val="F1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0" y="2011680"/>
            <a:ext cx="46634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400" b="1">
                <a:solidFill>
                  <a:srgbClr val="E87722"/>
                </a:solidFill>
                <a:latin typeface="Segoe UI"/>
              </a:defRPr>
            </a:pPr>
            <a:r>
              <a:t>HERRAMIENTAS &amp; TÉCNICAS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46888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B2F64"/>
                </a:solidFill>
                <a:latin typeface="Segoe UI"/>
              </a:defRPr>
            </a:pPr>
            <a:r>
              <a:t>Gap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246888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555F6E"/>
                </a:solidFill>
                <a:latin typeface="Segoe UI"/>
              </a:defRPr>
            </a:pPr>
            <a:r>
              <a:t>matriz de Practice Areas × estado de cumplimiento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3108960"/>
            <a:ext cx="4663440" cy="9144"/>
          </a:xfrm>
          <a:prstGeom prst="rect">
            <a:avLst/>
          </a:prstGeom>
          <a:solidFill>
            <a:srgbClr val="D2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0" y="320040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B2F64"/>
                </a:solidFill>
                <a:latin typeface="Segoe UI"/>
              </a:defRPr>
            </a:pPr>
            <a:r>
              <a:t>Appraisal informal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320040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555F6E"/>
                </a:solidFill>
                <a:latin typeface="Segoe UI"/>
              </a:defRPr>
            </a:pPr>
            <a:r>
              <a:t>situar el nivel de partida y brechas clave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0" y="3840480"/>
            <a:ext cx="4663440" cy="9144"/>
          </a:xfrm>
          <a:prstGeom prst="rect">
            <a:avLst/>
          </a:prstGeom>
          <a:solidFill>
            <a:srgbClr val="D2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0" y="393192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B2F64"/>
                </a:solidFill>
                <a:latin typeface="Segoe UI"/>
              </a:defRPr>
            </a:pPr>
            <a:r>
              <a:t>Entrevistas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393192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555F6E"/>
                </a:solidFill>
                <a:latin typeface="Segoe UI"/>
              </a:defRPr>
            </a:pPr>
            <a:r>
              <a:t>recopilar evidencia objetiva y testimonios reales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0" y="4572000"/>
            <a:ext cx="4663440" cy="9144"/>
          </a:xfrm>
          <a:prstGeom prst="rect">
            <a:avLst/>
          </a:prstGeom>
          <a:solidFill>
            <a:srgbClr val="D2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0" y="466344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B2F64"/>
                </a:solidFill>
                <a:latin typeface="Segoe UI"/>
              </a:defRPr>
            </a:pPr>
            <a:r>
              <a:t>FODA / SIPOC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466344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555F6E"/>
                </a:solidFill>
                <a:latin typeface="Segoe UI"/>
              </a:defRPr>
            </a:pPr>
            <a:r>
              <a:t>ligar los objetivos de negocio con el proceso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0" y="5303520"/>
            <a:ext cx="4663440" cy="9144"/>
          </a:xfrm>
          <a:prstGeom prst="rect">
            <a:avLst/>
          </a:prstGeom>
          <a:solidFill>
            <a:srgbClr val="D2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0" y="539496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B2F64"/>
                </a:solidFill>
                <a:latin typeface="Segoe UI"/>
              </a:defRPr>
            </a:pPr>
            <a:r>
              <a:t>Baseline KPIs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539496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555F6E"/>
                </a:solidFill>
                <a:latin typeface="Segoe UI"/>
              </a:defRPr>
            </a:pPr>
            <a:r>
              <a:t>medición de lead time, tasas de defectos y retrabajo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0" y="6035040"/>
            <a:ext cx="4663440" cy="9144"/>
          </a:xfrm>
          <a:prstGeom prst="rect">
            <a:avLst/>
          </a:prstGeom>
          <a:solidFill>
            <a:srgbClr val="D2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2011680"/>
            <a:ext cx="56692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400" b="1">
                <a:solidFill>
                  <a:srgbClr val="E87722"/>
                </a:solidFill>
                <a:latin typeface="Segoe UI"/>
              </a:defRPr>
            </a:pPr>
            <a:r>
              <a:t>QUÉ SE HACE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377440"/>
            <a:ext cx="56692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0B2F64"/>
                </a:solidFill>
                <a:latin typeface="Segoe UI"/>
              </a:rPr>
              <a:t>▶   </a:t>
            </a:r>
            <a:r>
              <a:rPr sz="1300">
                <a:solidFill>
                  <a:srgbClr val="333333"/>
                </a:solidFill>
                <a:latin typeface="Segoe UI"/>
              </a:rPr>
              <a:t>Evaluar el estado actual de los procesos de IVVI S.A.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B2F64"/>
                </a:solidFill>
                <a:latin typeface="Segoe UI"/>
              </a:rPr>
              <a:t>▶   </a:t>
            </a:r>
            <a:r>
              <a:rPr sz="1300">
                <a:solidFill>
                  <a:srgbClr val="333333"/>
                </a:solidFill>
                <a:latin typeface="Segoe UI"/>
              </a:rPr>
              <a:t>Identificar stakeholders clave y procesos críticos del negocio.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B2F64"/>
                </a:solidFill>
                <a:latin typeface="Segoe UI"/>
              </a:rPr>
              <a:t>▶   </a:t>
            </a:r>
            <a:r>
              <a:rPr sz="1300">
                <a:solidFill>
                  <a:srgbClr val="333333"/>
                </a:solidFill>
                <a:latin typeface="Segoe UI"/>
              </a:rPr>
              <a:t>Aplicar análisis FODA, modelo SIPOC y análisis GAP.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B2F64"/>
                </a:solidFill>
                <a:latin typeface="Segoe UI"/>
              </a:rPr>
              <a:t>▶   </a:t>
            </a:r>
            <a:r>
              <a:rPr sz="1300">
                <a:solidFill>
                  <a:srgbClr val="333333"/>
                </a:solidFill>
                <a:latin typeface="Segoe UI"/>
              </a:rPr>
              <a:t>Establecer la línea base de procesos, madurez y KPIs iniciales.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389120"/>
            <a:ext cx="777240" cy="274320"/>
          </a:xfrm>
          <a:prstGeom prst="roundRect">
            <a:avLst/>
          </a:prstGeom>
          <a:solidFill>
            <a:srgbClr val="0B2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GOV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417319" y="4389120"/>
            <a:ext cx="777240" cy="274320"/>
          </a:xfrm>
          <a:prstGeom prst="roundRect">
            <a:avLst/>
          </a:prstGeom>
          <a:solidFill>
            <a:srgbClr val="0B2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II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286000" y="4389120"/>
            <a:ext cx="777240" cy="274320"/>
          </a:xfrm>
          <a:prstGeom prst="roundRect">
            <a:avLst/>
          </a:prstGeom>
          <a:solidFill>
            <a:srgbClr val="0B2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MPM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154679" y="4389120"/>
            <a:ext cx="777240" cy="274320"/>
          </a:xfrm>
          <a:prstGeom prst="roundRect">
            <a:avLst/>
          </a:prstGeom>
          <a:solidFill>
            <a:srgbClr val="0B2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PCM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937760"/>
            <a:ext cx="566928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AE6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029200"/>
            <a:ext cx="53035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7AE60"/>
                </a:solidFill>
                <a:latin typeface="Segoe UI"/>
              </a:defRPr>
            </a:pPr>
            <a:r>
              <a:t>📄  ENTREGABLE</a:t>
            </a:r>
          </a:p>
          <a:p>
            <a:pPr>
              <a:defRPr sz="1400" b="1">
                <a:solidFill>
                  <a:srgbClr val="0B2F64"/>
                </a:solidFill>
                <a:latin typeface="Segoe UI"/>
              </a:defRPr>
            </a:pPr>
            <a:r>
              <a:t>Informe de Diagnóstico y Plan de Acción Preliminar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A0AF"/>
                </a:solidFill>
                <a:latin typeface="Segoe UI"/>
              </a:defRPr>
            </a:pPr>
            <a:r>
              <a:t>Fase 1 de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 i="0">
                <a:solidFill>
                  <a:srgbClr val="E87722"/>
                </a:solidFill>
                <a:latin typeface="Segoe UI"/>
              </a:defRPr>
            </a:pPr>
            <a:r>
              <a:t>PUNTOS CLAVE - FASE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 i="0">
                <a:solidFill>
                  <a:srgbClr val="0B2F64"/>
                </a:solidFill>
                <a:latin typeface="Segoe UI"/>
              </a:defRPr>
            </a:pPr>
            <a:r>
              <a:t>Puntos clave de la Fase 1: Diagnóstico Inicial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828800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109728" cy="21945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54864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>
                <a:latin typeface="Segoe UI"/>
              </a:defRPr>
            </a:pPr>
            <a:r>
              <a:t>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828800"/>
            <a:ext cx="40690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B2F64"/>
                </a:solidFill>
                <a:latin typeface="Segoe UI"/>
              </a:defRPr>
            </a:pPr>
            <a:r>
              <a:t>NÚMEROS CLAVE</a:t>
            </a:r>
          </a:p>
          <a:p>
            <a:pPr>
              <a:spcAft>
                <a:spcPts val="200"/>
              </a:spcAft>
              <a:defRPr sz="1100">
                <a:solidFill>
                  <a:srgbClr val="555F6E"/>
                </a:solidFill>
                <a:latin typeface="Segoe UI"/>
              </a:defRPr>
            </a:pPr>
            <a:r>
              <a:t>- 7 procesos críticos inventariados y caracterizados.</a:t>
            </a:r>
          </a:p>
          <a:p>
            <a:pPr>
              <a:spcAft>
                <a:spcPts val="200"/>
              </a:spcAft>
              <a:defRPr sz="1100">
                <a:solidFill>
                  <a:srgbClr val="555F6E"/>
                </a:solidFill>
                <a:latin typeface="Segoe UI"/>
              </a:defRPr>
            </a:pPr>
            <a:r>
              <a:t>- Brechas de madurez identificadas frente a CMMI.</a:t>
            </a:r>
          </a:p>
          <a:p>
            <a:pPr>
              <a:spcAft>
                <a:spcPts val="200"/>
              </a:spcAft>
              <a:defRPr sz="1100">
                <a:solidFill>
                  <a:srgbClr val="555F6E"/>
                </a:solidFill>
                <a:latin typeface="Segoe UI"/>
              </a:defRPr>
            </a:pPr>
            <a:r>
              <a:t>- Línea base inicial de KPIs establecida.</a:t>
            </a:r>
          </a:p>
          <a:p>
            <a:pPr>
              <a:spcAft>
                <a:spcPts val="200"/>
              </a:spcAft>
              <a:defRPr sz="1100">
                <a:solidFill>
                  <a:srgbClr val="555F6E"/>
                </a:solidFill>
                <a:latin typeface="Segoe UI"/>
              </a:defRPr>
            </a:pPr>
            <a:r>
              <a:t>- Plan de acción preliminar generado.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645920"/>
            <a:ext cx="109728" cy="2194560"/>
          </a:xfrm>
          <a:prstGeom prst="rect">
            <a:avLst/>
          </a:prstGeom>
          <a:solidFill>
            <a:srgbClr val="0B2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828800"/>
            <a:ext cx="54864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>
                <a:latin typeface="Segoe UI"/>
              </a:defRPr>
            </a:pPr>
            <a:r>
              <a:t>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1828800"/>
            <a:ext cx="40690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B2F64"/>
                </a:solidFill>
                <a:latin typeface="Segoe UI"/>
              </a:defRPr>
            </a:pPr>
            <a:r>
              <a:t>PUNTOS MÁS RELEVANTES</a:t>
            </a:r>
          </a:p>
          <a:p>
            <a:pPr>
              <a:spcAft>
                <a:spcPts val="200"/>
              </a:spcAft>
              <a:defRPr sz="1100">
                <a:solidFill>
                  <a:srgbClr val="555F6E"/>
                </a:solidFill>
                <a:latin typeface="Segoe UI"/>
              </a:defRPr>
            </a:pPr>
            <a:r>
              <a:t>- Se conoce el estado actual de IVVI S.A.</a:t>
            </a:r>
          </a:p>
          <a:p>
            <a:pPr>
              <a:spcAft>
                <a:spcPts val="200"/>
              </a:spcAft>
              <a:defRPr sz="1100">
                <a:solidFill>
                  <a:srgbClr val="555F6E"/>
                </a:solidFill>
                <a:latin typeface="Segoe UI"/>
              </a:defRPr>
            </a:pPr>
            <a:r>
              <a:t>- Se identifican procesos críticos, riesgos y oportunidades de mejora.</a:t>
            </a:r>
          </a:p>
          <a:p>
            <a:pPr>
              <a:spcAft>
                <a:spcPts val="200"/>
              </a:spcAft>
              <a:defRPr sz="1100">
                <a:solidFill>
                  <a:srgbClr val="555F6E"/>
                </a:solidFill>
                <a:latin typeface="Segoe UI"/>
              </a:defRPr>
            </a:pPr>
            <a:r>
              <a:t>- Se establece la línea base para medir avances posteriores.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1480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114800"/>
            <a:ext cx="109728" cy="2194560"/>
          </a:xfrm>
          <a:prstGeom prst="rect">
            <a:avLst/>
          </a:prstGeom>
          <a:solidFill>
            <a:srgbClr val="0B2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297680"/>
            <a:ext cx="54864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>
                <a:latin typeface="Segoe UI"/>
              </a:defRPr>
            </a:pPr>
            <a:r>
              <a:t>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4297680"/>
            <a:ext cx="40690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B2F64"/>
                </a:solidFill>
                <a:latin typeface="Segoe UI"/>
              </a:defRPr>
            </a:pPr>
            <a:r>
              <a:t>IMPACTO EN IVVI S.A.</a:t>
            </a:r>
          </a:p>
          <a:p>
            <a:pPr>
              <a:spcAft>
                <a:spcPts val="200"/>
              </a:spcAft>
              <a:defRPr sz="1100">
                <a:solidFill>
                  <a:srgbClr val="555F6E"/>
                </a:solidFill>
                <a:latin typeface="Segoe UI"/>
              </a:defRPr>
            </a:pPr>
            <a:r>
              <a:t>Permite comprender la situación real de la organización antes de diseñar mejoras.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411480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4114800"/>
            <a:ext cx="109728" cy="21945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4297680"/>
            <a:ext cx="54864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>
                <a:latin typeface="Segoe UI"/>
              </a:defRPr>
            </a:pPr>
            <a:r>
              <a:t>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4297680"/>
            <a:ext cx="40690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B2F64"/>
                </a:solidFill>
                <a:latin typeface="Segoe UI"/>
              </a:defRPr>
            </a:pPr>
            <a:r>
              <a:t>CONEXIÓN CON LA SIGUIENTE FASE</a:t>
            </a:r>
          </a:p>
          <a:p>
            <a:pPr>
              <a:spcAft>
                <a:spcPts val="200"/>
              </a:spcAft>
              <a:defRPr sz="1100">
                <a:solidFill>
                  <a:srgbClr val="555F6E"/>
                </a:solidFill>
                <a:latin typeface="Segoe UI"/>
              </a:defRPr>
            </a:pPr>
            <a:r>
              <a:t>El diagnóstico sirve como base para definir el compromiso directivo, roles, gobierno y recursos en la Fase 2.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64922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 i="0">
                <a:solidFill>
                  <a:srgbClr val="555F6E"/>
                </a:solidFill>
                <a:latin typeface="Segoe UI"/>
              </a:defRPr>
            </a:pPr>
            <a:r>
              <a:t>Fase 1 de 7 - Puntos Clave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0B2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-457200"/>
            <a:ext cx="2286000" cy="2286000"/>
          </a:xfrm>
          <a:prstGeom prst="ellipse">
            <a:avLst/>
          </a:prstGeom>
          <a:solidFill>
            <a:srgbClr val="16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371600" cy="1645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600" b="1">
                <a:solidFill>
                  <a:srgbClr val="194585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82880"/>
            <a:ext cx="7315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 b="1">
                <a:solidFill>
                  <a:srgbClr val="E87722"/>
                </a:solidFill>
                <a:latin typeface="Segoe UI"/>
              </a:defRPr>
            </a:pPr>
            <a:r>
              <a:t>L I D E R A Z G 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57200"/>
            <a:ext cx="731520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Compromiso y Liderazgo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365760"/>
            <a:ext cx="91440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600">
                <a:latin typeface="Segoe UI"/>
              </a:defRPr>
            </a:pPr>
            <a:r>
              <a:t>🤝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60" y="1645920"/>
            <a:ext cx="5425135" cy="5212080"/>
          </a:xfrm>
          <a:prstGeom prst="rect">
            <a:avLst/>
          </a:prstGeom>
          <a:solidFill>
            <a:srgbClr val="F1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0" y="2011680"/>
            <a:ext cx="46634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400" b="1">
                <a:solidFill>
                  <a:srgbClr val="E87722"/>
                </a:solidFill>
                <a:latin typeface="Segoe UI"/>
              </a:defRPr>
            </a:pPr>
            <a:r>
              <a:t>HERRAMIENTAS &amp; TÉCNICAS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46888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B2F64"/>
                </a:solidFill>
                <a:latin typeface="Segoe UI"/>
              </a:defRPr>
            </a:pPr>
            <a:r>
              <a:t>Sponsorship Charter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246888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555F6E"/>
                </a:solidFill>
                <a:latin typeface="Segoe UI"/>
              </a:defRPr>
            </a:pPr>
            <a:r>
              <a:t>compromiso formal y firmado de la alta dirección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3108960"/>
            <a:ext cx="4663440" cy="9144"/>
          </a:xfrm>
          <a:prstGeom prst="rect">
            <a:avLst/>
          </a:prstGeom>
          <a:solidFill>
            <a:srgbClr val="D2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0" y="320040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B2F64"/>
                </a:solidFill>
                <a:latin typeface="Segoe UI"/>
              </a:defRPr>
            </a:pPr>
            <a:r>
              <a:t>CDC / EPG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320040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555F6E"/>
                </a:solidFill>
                <a:latin typeface="Segoe UI"/>
              </a:defRPr>
            </a:pPr>
            <a:r>
              <a:t>Comité de Dirección y Grupo de Procesos que gobiernan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0" y="3840480"/>
            <a:ext cx="4663440" cy="9144"/>
          </a:xfrm>
          <a:prstGeom prst="rect">
            <a:avLst/>
          </a:prstGeom>
          <a:solidFill>
            <a:srgbClr val="D2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0" y="393192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B2F64"/>
                </a:solidFill>
                <a:latin typeface="Segoe UI"/>
              </a:defRPr>
            </a:pPr>
            <a:r>
              <a:t>Matriz RACI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393192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555F6E"/>
                </a:solidFill>
                <a:latin typeface="Segoe UI"/>
              </a:defRPr>
            </a:pPr>
            <a:r>
              <a:t>definir con precisión roles y responsabilidades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0" y="4572000"/>
            <a:ext cx="4663440" cy="9144"/>
          </a:xfrm>
          <a:prstGeom prst="rect">
            <a:avLst/>
          </a:prstGeom>
          <a:solidFill>
            <a:srgbClr val="D2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0" y="466344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B2F64"/>
                </a:solidFill>
                <a:latin typeface="Segoe UI"/>
              </a:defRPr>
            </a:pPr>
            <a:r>
              <a:t>ADKAR / Kotter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466344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555F6E"/>
                </a:solidFill>
                <a:latin typeface="Segoe UI"/>
              </a:defRPr>
            </a:pPr>
            <a:r>
              <a:t>metodología de gestión del cambio organizacional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0" y="5303520"/>
            <a:ext cx="4663440" cy="9144"/>
          </a:xfrm>
          <a:prstGeom prst="rect">
            <a:avLst/>
          </a:prstGeom>
          <a:solidFill>
            <a:srgbClr val="D2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0" y="539496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B2F64"/>
                </a:solidFill>
                <a:latin typeface="Segoe UI"/>
              </a:defRPr>
            </a:pPr>
            <a:r>
              <a:t>Business Case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539496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555F6E"/>
                </a:solidFill>
                <a:latin typeface="Segoe UI"/>
              </a:defRPr>
            </a:pPr>
            <a:r>
              <a:t>análisis del ROI y retorno esperado de la inversión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0" y="6035040"/>
            <a:ext cx="4663440" cy="9144"/>
          </a:xfrm>
          <a:prstGeom prst="rect">
            <a:avLst/>
          </a:prstGeom>
          <a:solidFill>
            <a:srgbClr val="D2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2011680"/>
            <a:ext cx="56692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400" b="1">
                <a:solidFill>
                  <a:srgbClr val="E87722"/>
                </a:solidFill>
                <a:latin typeface="Segoe UI"/>
              </a:defRPr>
            </a:pPr>
            <a:r>
              <a:t>QUÉ SE HACE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377440"/>
            <a:ext cx="56692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0B2F64"/>
                </a:solidFill>
                <a:latin typeface="Segoe UI"/>
              </a:rPr>
              <a:t>▶   </a:t>
            </a:r>
            <a:r>
              <a:rPr sz="1300">
                <a:solidFill>
                  <a:srgbClr val="333333"/>
                </a:solidFill>
                <a:latin typeface="Segoe UI"/>
              </a:rPr>
              <a:t>Asegurar el patrocinio formal y compromiso de la alta gerencia.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B2F64"/>
                </a:solidFill>
                <a:latin typeface="Segoe UI"/>
              </a:rPr>
              <a:t>▶   </a:t>
            </a:r>
            <a:r>
              <a:rPr sz="1300">
                <a:solidFill>
                  <a:srgbClr val="333333"/>
                </a:solidFill>
                <a:latin typeface="Segoe UI"/>
              </a:rPr>
              <a:t>Definir la estructura de gobierno del proyecto de mejora.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B2F64"/>
                </a:solidFill>
                <a:latin typeface="Segoe UI"/>
              </a:rPr>
              <a:t>▶   </a:t>
            </a:r>
            <a:r>
              <a:rPr sz="1300">
                <a:solidFill>
                  <a:srgbClr val="333333"/>
                </a:solidFill>
                <a:latin typeface="Segoe UI"/>
              </a:rPr>
              <a:t>Asignar roles, responsabilidades y líderes de iniciativa.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B2F64"/>
                </a:solidFill>
                <a:latin typeface="Segoe UI"/>
              </a:rPr>
              <a:t>▶   </a:t>
            </a:r>
            <a:r>
              <a:rPr sz="1300">
                <a:solidFill>
                  <a:srgbClr val="333333"/>
                </a:solidFill>
                <a:latin typeface="Segoe UI"/>
              </a:rPr>
              <a:t>Comunicar activamente la visión del cambio y mejora de procesos.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B2F64"/>
                </a:solidFill>
                <a:latin typeface="Segoe UI"/>
              </a:rPr>
              <a:t>▶   </a:t>
            </a:r>
            <a:r>
              <a:rPr sz="1300">
                <a:solidFill>
                  <a:srgbClr val="333333"/>
                </a:solidFill>
                <a:latin typeface="Segoe UI"/>
              </a:rPr>
              <a:t>Establecer la asignación de recursos y presupuesto del proyecto.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389120"/>
            <a:ext cx="777240" cy="274320"/>
          </a:xfrm>
          <a:prstGeom prst="roundRect">
            <a:avLst/>
          </a:prstGeom>
          <a:solidFill>
            <a:srgbClr val="0B2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GOV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417319" y="4389120"/>
            <a:ext cx="777240" cy="274320"/>
          </a:xfrm>
          <a:prstGeom prst="roundRect">
            <a:avLst/>
          </a:prstGeom>
          <a:solidFill>
            <a:srgbClr val="0B2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II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286000" y="4389120"/>
            <a:ext cx="777240" cy="274320"/>
          </a:xfrm>
          <a:prstGeom prst="roundRect">
            <a:avLst/>
          </a:prstGeom>
          <a:solidFill>
            <a:srgbClr val="0B2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OT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937760"/>
            <a:ext cx="566928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AE6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029200"/>
            <a:ext cx="53035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7AE60"/>
                </a:solidFill>
                <a:latin typeface="Segoe UI"/>
              </a:defRPr>
            </a:pPr>
            <a:r>
              <a:t>📄  ENTREGABLE</a:t>
            </a:r>
          </a:p>
          <a:p>
            <a:pPr>
              <a:defRPr sz="1400" b="1">
                <a:solidFill>
                  <a:srgbClr val="0B2F64"/>
                </a:solidFill>
                <a:latin typeface="Segoe UI"/>
              </a:defRPr>
            </a:pPr>
            <a:r>
              <a:t>Plan de Comunicación y Estructura Organizativa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A0AF"/>
                </a:solidFill>
                <a:latin typeface="Segoe UI"/>
              </a:defRPr>
            </a:pPr>
            <a:r>
              <a:t>Fase 2 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 i="0">
                <a:solidFill>
                  <a:srgbClr val="E87722"/>
                </a:solidFill>
                <a:latin typeface="Segoe UI"/>
              </a:defRPr>
            </a:pPr>
            <a:r>
              <a:t>PUNTOS CLAVE - FASE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 i="0">
                <a:solidFill>
                  <a:srgbClr val="0B2F64"/>
                </a:solidFill>
                <a:latin typeface="Segoe UI"/>
              </a:defRPr>
            </a:pPr>
            <a:r>
              <a:t>Puntos clave de la Fase 2: Compromiso y Liderazgo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828800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109728" cy="21945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54864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>
                <a:latin typeface="Segoe UI"/>
              </a:defRPr>
            </a:pPr>
            <a:r>
              <a:t>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828800"/>
            <a:ext cx="40690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B2F64"/>
                </a:solidFill>
                <a:latin typeface="Segoe UI"/>
              </a:defRPr>
            </a:pPr>
            <a:r>
              <a:t>NÚMEROS CLAVE</a:t>
            </a:r>
          </a:p>
          <a:p>
            <a:pPr>
              <a:spcAft>
                <a:spcPts val="200"/>
              </a:spcAft>
              <a:defRPr sz="1100">
                <a:solidFill>
                  <a:srgbClr val="555F6E"/>
                </a:solidFill>
                <a:latin typeface="Segoe UI"/>
              </a:defRPr>
            </a:pPr>
            <a:r>
              <a:t>- 1 estructura de gobierno definida.</a:t>
            </a:r>
          </a:p>
          <a:p>
            <a:pPr>
              <a:spcAft>
                <a:spcPts val="200"/>
              </a:spcAft>
              <a:defRPr sz="1100">
                <a:solidFill>
                  <a:srgbClr val="555F6E"/>
                </a:solidFill>
                <a:latin typeface="Segoe UI"/>
              </a:defRPr>
            </a:pPr>
            <a:r>
              <a:t>- 1 Comité de Dirección de Calidad propuesto.</a:t>
            </a:r>
          </a:p>
          <a:p>
            <a:pPr>
              <a:spcAft>
                <a:spcPts val="200"/>
              </a:spcAft>
              <a:defRPr sz="1100">
                <a:solidFill>
                  <a:srgbClr val="555F6E"/>
                </a:solidFill>
                <a:latin typeface="Segoe UI"/>
              </a:defRPr>
            </a:pPr>
            <a:r>
              <a:t>- 1 matriz RACI para roles y responsabilidades.</a:t>
            </a:r>
          </a:p>
          <a:p>
            <a:pPr>
              <a:spcAft>
                <a:spcPts val="200"/>
              </a:spcAft>
              <a:defRPr sz="1100">
                <a:solidFill>
                  <a:srgbClr val="555F6E"/>
                </a:solidFill>
                <a:latin typeface="Segoe UI"/>
              </a:defRPr>
            </a:pPr>
            <a:r>
              <a:t>- 1 plan de comunicación organizacional.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645920"/>
            <a:ext cx="109728" cy="2194560"/>
          </a:xfrm>
          <a:prstGeom prst="rect">
            <a:avLst/>
          </a:prstGeom>
          <a:solidFill>
            <a:srgbClr val="0B2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828800"/>
            <a:ext cx="54864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>
                <a:latin typeface="Segoe UI"/>
              </a:defRPr>
            </a:pPr>
            <a:r>
              <a:t>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1828800"/>
            <a:ext cx="40690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B2F64"/>
                </a:solidFill>
                <a:latin typeface="Segoe UI"/>
              </a:defRPr>
            </a:pPr>
            <a:r>
              <a:t>PUNTOS MÁS RELEVANTES</a:t>
            </a:r>
          </a:p>
          <a:p>
            <a:pPr>
              <a:spcAft>
                <a:spcPts val="200"/>
              </a:spcAft>
              <a:defRPr sz="1100">
                <a:solidFill>
                  <a:srgbClr val="555F6E"/>
                </a:solidFill>
                <a:latin typeface="Segoe UI"/>
              </a:defRPr>
            </a:pPr>
            <a:r>
              <a:t>- Se asegura el patrocinio de la alta gerencia.</a:t>
            </a:r>
          </a:p>
          <a:p>
            <a:pPr>
              <a:spcAft>
                <a:spcPts val="200"/>
              </a:spcAft>
              <a:defRPr sz="1100">
                <a:solidFill>
                  <a:srgbClr val="555F6E"/>
                </a:solidFill>
                <a:latin typeface="Segoe UI"/>
              </a:defRPr>
            </a:pPr>
            <a:r>
              <a:t>- Se definen responsables para dirigir la mejora.</a:t>
            </a:r>
          </a:p>
          <a:p>
            <a:pPr>
              <a:spcAft>
                <a:spcPts val="200"/>
              </a:spcAft>
              <a:defRPr sz="1100">
                <a:solidFill>
                  <a:srgbClr val="555F6E"/>
                </a:solidFill>
                <a:latin typeface="Segoe UI"/>
              </a:defRPr>
            </a:pPr>
            <a:r>
              <a:t>- Se establece la comunicación formal del cambio.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1480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114800"/>
            <a:ext cx="109728" cy="2194560"/>
          </a:xfrm>
          <a:prstGeom prst="rect">
            <a:avLst/>
          </a:prstGeom>
          <a:solidFill>
            <a:srgbClr val="0B2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297680"/>
            <a:ext cx="54864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>
                <a:latin typeface="Segoe UI"/>
              </a:defRPr>
            </a:pPr>
            <a:r>
              <a:t>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4297680"/>
            <a:ext cx="40690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B2F64"/>
                </a:solidFill>
                <a:latin typeface="Segoe UI"/>
              </a:defRPr>
            </a:pPr>
            <a:r>
              <a:t>IMPACTO EN IVVI S.A.</a:t>
            </a:r>
          </a:p>
          <a:p>
            <a:pPr>
              <a:spcAft>
                <a:spcPts val="200"/>
              </a:spcAft>
              <a:defRPr sz="1100">
                <a:solidFill>
                  <a:srgbClr val="555F6E"/>
                </a:solidFill>
                <a:latin typeface="Segoe UI"/>
              </a:defRPr>
            </a:pPr>
            <a:r>
              <a:t>Reduce el riesgo de que la mejora quede solo como documento, porque asigna responsables y autoridad.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411480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4114800"/>
            <a:ext cx="109728" cy="21945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4297680"/>
            <a:ext cx="54864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>
                <a:latin typeface="Segoe UI"/>
              </a:defRPr>
            </a:pPr>
            <a:r>
              <a:t>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4297680"/>
            <a:ext cx="40690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B2F64"/>
                </a:solidFill>
                <a:latin typeface="Segoe UI"/>
              </a:defRPr>
            </a:pPr>
            <a:r>
              <a:t>CONEXIÓN CON LA SIGUIENTE FASE</a:t>
            </a:r>
          </a:p>
          <a:p>
            <a:pPr>
              <a:spcAft>
                <a:spcPts val="200"/>
              </a:spcAft>
              <a:defRPr sz="1100">
                <a:solidFill>
                  <a:srgbClr val="555F6E"/>
                </a:solidFill>
                <a:latin typeface="Segoe UI"/>
              </a:defRPr>
            </a:pPr>
            <a:r>
              <a:t>La estructura de gobierno y los recursos aprobados permiten pasar al diseño detallado de procesos en la Fase 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64922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 i="0">
                <a:solidFill>
                  <a:srgbClr val="555F6E"/>
                </a:solidFill>
                <a:latin typeface="Segoe UI"/>
              </a:defRPr>
            </a:pPr>
            <a:r>
              <a:t>Fase 2 de 7 - Puntos Clave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0B2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-457200"/>
            <a:ext cx="2286000" cy="2286000"/>
          </a:xfrm>
          <a:prstGeom prst="ellipse">
            <a:avLst/>
          </a:prstGeom>
          <a:solidFill>
            <a:srgbClr val="16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371600" cy="1645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600" b="1">
                <a:solidFill>
                  <a:srgbClr val="194585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82880"/>
            <a:ext cx="7315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 b="1">
                <a:solidFill>
                  <a:srgbClr val="E87722"/>
                </a:solidFill>
                <a:latin typeface="Segoe UI"/>
              </a:defRPr>
            </a:pPr>
            <a:r>
              <a:t>D I S E Ñ 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57200"/>
            <a:ext cx="731520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Planificación y Diseño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365760"/>
            <a:ext cx="91440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600">
                <a:latin typeface="Segoe UI"/>
              </a:defRPr>
            </a:pPr>
            <a:r>
              <a:t>📐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60" y="1645920"/>
            <a:ext cx="5425135" cy="5212080"/>
          </a:xfrm>
          <a:prstGeom prst="rect">
            <a:avLst/>
          </a:prstGeom>
          <a:solidFill>
            <a:srgbClr val="F1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0" y="2011680"/>
            <a:ext cx="46634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400" b="1">
                <a:solidFill>
                  <a:srgbClr val="E87722"/>
                </a:solidFill>
                <a:latin typeface="Segoe UI"/>
              </a:defRPr>
            </a:pPr>
            <a:r>
              <a:t>HERRAMIENTAS &amp; TÉCNICAS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46888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B2F64"/>
                </a:solidFill>
                <a:latin typeface="Segoe UI"/>
              </a:defRPr>
            </a:pPr>
            <a:r>
              <a:t>WBS y cronograma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246888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555F6E"/>
                </a:solidFill>
                <a:latin typeface="Segoe UI"/>
              </a:defRPr>
            </a:pPr>
            <a:r>
              <a:t>estructura jerárquica del plan de trabajo (PLAN)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3108960"/>
            <a:ext cx="4663440" cy="9144"/>
          </a:xfrm>
          <a:prstGeom prst="rect">
            <a:avLst/>
          </a:prstGeom>
          <a:solidFill>
            <a:srgbClr val="D2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0" y="320040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B2F64"/>
                </a:solidFill>
                <a:latin typeface="Segoe UI"/>
              </a:defRPr>
            </a:pPr>
            <a:r>
              <a:t>Gestión de riesgos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320040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555F6E"/>
                </a:solidFill>
                <a:latin typeface="Segoe UI"/>
              </a:defRPr>
            </a:pPr>
            <a:r>
              <a:t>matriz de probabilidad × impacto de desvíos (RSK)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0" y="3840480"/>
            <a:ext cx="4663440" cy="9144"/>
          </a:xfrm>
          <a:prstGeom prst="rect">
            <a:avLst/>
          </a:prstGeom>
          <a:solidFill>
            <a:srgbClr val="D2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0" y="393192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B2F64"/>
                </a:solidFill>
                <a:latin typeface="Segoe UI"/>
              </a:defRPr>
            </a:pPr>
            <a:r>
              <a:t>Enfoque GQM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393192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555F6E"/>
                </a:solidFill>
                <a:latin typeface="Segoe UI"/>
              </a:defRPr>
            </a:pPr>
            <a:r>
              <a:t>definir métricas alineadas (Objetivo-Pregunta-Métrica)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0" y="4572000"/>
            <a:ext cx="4663440" cy="9144"/>
          </a:xfrm>
          <a:prstGeom prst="rect">
            <a:avLst/>
          </a:prstGeom>
          <a:solidFill>
            <a:srgbClr val="D2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0" y="466344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B2F64"/>
                </a:solidFill>
                <a:latin typeface="Segoe UI"/>
              </a:defRPr>
            </a:pPr>
            <a:r>
              <a:t>Balanced Scorecard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466344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555F6E"/>
                </a:solidFill>
                <a:latin typeface="Segoe UI"/>
              </a:defRPr>
            </a:pPr>
            <a:r>
              <a:t>cuadro de mando para el control estratégico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0" y="5303520"/>
            <a:ext cx="4663440" cy="9144"/>
          </a:xfrm>
          <a:prstGeom prst="rect">
            <a:avLst/>
          </a:prstGeom>
          <a:solidFill>
            <a:srgbClr val="D2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0" y="539496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B2F64"/>
                </a:solidFill>
                <a:latin typeface="Segoe UI"/>
              </a:defRPr>
            </a:pPr>
            <a:r>
              <a:t>Mapa de procesos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539496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555F6E"/>
                </a:solidFill>
                <a:latin typeface="Segoe UI"/>
              </a:defRPr>
            </a:pPr>
            <a:r>
              <a:t>definición de procesos TO-BE y reglas de adaptación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0" y="6035040"/>
            <a:ext cx="4663440" cy="9144"/>
          </a:xfrm>
          <a:prstGeom prst="rect">
            <a:avLst/>
          </a:prstGeom>
          <a:solidFill>
            <a:srgbClr val="D2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2011680"/>
            <a:ext cx="56692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400" b="1">
                <a:solidFill>
                  <a:srgbClr val="E87722"/>
                </a:solidFill>
                <a:latin typeface="Segoe UI"/>
              </a:defRPr>
            </a:pPr>
            <a:r>
              <a:t>QUÉ SE HACE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377440"/>
            <a:ext cx="56692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0B2F64"/>
                </a:solidFill>
                <a:latin typeface="Segoe UI"/>
              </a:rPr>
              <a:t>▶   </a:t>
            </a:r>
            <a:r>
              <a:rPr sz="1300">
                <a:solidFill>
                  <a:srgbClr val="333333"/>
                </a:solidFill>
                <a:latin typeface="Segoe UI"/>
              </a:rPr>
              <a:t>Definir el alcance de la implementación (unidades y proyectos).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B2F64"/>
                </a:solidFill>
                <a:latin typeface="Segoe UI"/>
              </a:rPr>
              <a:t>▶   </a:t>
            </a:r>
            <a:r>
              <a:rPr sz="1300">
                <a:solidFill>
                  <a:srgbClr val="333333"/>
                </a:solidFill>
                <a:latin typeface="Segoe UI"/>
              </a:rPr>
              <a:t>Seleccionar las Practice Areas aplicables del nivel de madurez.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B2F64"/>
                </a:solidFill>
                <a:latin typeface="Segoe UI"/>
              </a:rPr>
              <a:t>▶   </a:t>
            </a:r>
            <a:r>
              <a:rPr sz="1300">
                <a:solidFill>
                  <a:srgbClr val="333333"/>
                </a:solidFill>
                <a:latin typeface="Segoe UI"/>
              </a:rPr>
              <a:t>Diseñar la arquitectura de procesos TO-BE y guías de adaptación.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B2F64"/>
                </a:solidFill>
                <a:latin typeface="Segoe UI"/>
              </a:rPr>
              <a:t>▶   </a:t>
            </a:r>
            <a:r>
              <a:rPr sz="1300">
                <a:solidFill>
                  <a:srgbClr val="333333"/>
                </a:solidFill>
                <a:latin typeface="Segoe UI"/>
              </a:rPr>
              <a:t>Definir KPIs de procesos, marco GQM y Balanced Scorecard.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B2F64"/>
                </a:solidFill>
                <a:latin typeface="Segoe UI"/>
              </a:rPr>
              <a:t>▶   </a:t>
            </a:r>
            <a:r>
              <a:rPr sz="1300">
                <a:solidFill>
                  <a:srgbClr val="333333"/>
                </a:solidFill>
                <a:latin typeface="Segoe UI"/>
              </a:rPr>
              <a:t>Elaborar WBS, cronograma detallado, roadmap y presupuesto.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389120"/>
            <a:ext cx="777240" cy="274320"/>
          </a:xfrm>
          <a:prstGeom prst="roundRect">
            <a:avLst/>
          </a:prstGeom>
          <a:solidFill>
            <a:srgbClr val="0B2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PLAN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417319" y="4389120"/>
            <a:ext cx="777240" cy="274320"/>
          </a:xfrm>
          <a:prstGeom prst="roundRect">
            <a:avLst/>
          </a:prstGeom>
          <a:solidFill>
            <a:srgbClr val="0B2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EST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286000" y="4389120"/>
            <a:ext cx="777240" cy="274320"/>
          </a:xfrm>
          <a:prstGeom prst="roundRect">
            <a:avLst/>
          </a:prstGeom>
          <a:solidFill>
            <a:srgbClr val="0B2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RSK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154679" y="4389120"/>
            <a:ext cx="777240" cy="274320"/>
          </a:xfrm>
          <a:prstGeom prst="roundRect">
            <a:avLst/>
          </a:prstGeom>
          <a:solidFill>
            <a:srgbClr val="0B2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MPM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023359" y="4389120"/>
            <a:ext cx="777240" cy="274320"/>
          </a:xfrm>
          <a:prstGeom prst="roundRect">
            <a:avLst/>
          </a:prstGeom>
          <a:solidFill>
            <a:srgbClr val="0B2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PAD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892040" y="4389120"/>
            <a:ext cx="777240" cy="274320"/>
          </a:xfrm>
          <a:prstGeom prst="roundRect">
            <a:avLst/>
          </a:prstGeom>
          <a:solidFill>
            <a:srgbClr val="0B2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RDM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4937760"/>
            <a:ext cx="566928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AE6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029200"/>
            <a:ext cx="53035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7AE60"/>
                </a:solidFill>
                <a:latin typeface="Segoe UI"/>
              </a:defRPr>
            </a:pPr>
            <a:r>
              <a:t>📄  ENTREGABLE</a:t>
            </a:r>
          </a:p>
          <a:p>
            <a:pPr>
              <a:defRPr sz="1400" b="1">
                <a:solidFill>
                  <a:srgbClr val="0B2F64"/>
                </a:solidFill>
                <a:latin typeface="Segoe UI"/>
              </a:defRPr>
            </a:pPr>
            <a:r>
              <a:t>Plan de Implementación Detallado y Mapa de Procesos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A0AF"/>
                </a:solidFill>
                <a:latin typeface="Segoe UI"/>
              </a:defRPr>
            </a:pPr>
            <a:r>
              <a:t>Fase 3 de 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 i="0">
                <a:solidFill>
                  <a:srgbClr val="E87722"/>
                </a:solidFill>
                <a:latin typeface="Segoe UI"/>
              </a:defRPr>
            </a:pPr>
            <a:r>
              <a:t>PUNTOS CLAVE - FASE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 i="0">
                <a:solidFill>
                  <a:srgbClr val="0B2F64"/>
                </a:solidFill>
                <a:latin typeface="Segoe UI"/>
              </a:defRPr>
            </a:pPr>
            <a:r>
              <a:t>Puntos clave de la Fase 3: Planificación y Diseño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828800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109728" cy="21945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54864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>
                <a:latin typeface="Segoe UI"/>
              </a:defRPr>
            </a:pPr>
            <a:r>
              <a:t>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828800"/>
            <a:ext cx="40690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B2F64"/>
                </a:solidFill>
                <a:latin typeface="Segoe UI"/>
              </a:defRPr>
            </a:pPr>
            <a:r>
              <a:t>NÚMEROS CLAVE</a:t>
            </a:r>
          </a:p>
          <a:p>
            <a:pPr>
              <a:spcAft>
                <a:spcPts val="200"/>
              </a:spcAft>
              <a:defRPr sz="1100">
                <a:solidFill>
                  <a:srgbClr val="555F6E"/>
                </a:solidFill>
                <a:latin typeface="Segoe UI"/>
              </a:defRPr>
            </a:pPr>
            <a:r>
              <a:t>- 7 hallazgos críticos traducidos en decisiones de diseño.</a:t>
            </a:r>
          </a:p>
          <a:p>
            <a:pPr>
              <a:spcAft>
                <a:spcPts val="200"/>
              </a:spcAft>
              <a:defRPr sz="1100">
                <a:solidFill>
                  <a:srgbClr val="555F6E"/>
                </a:solidFill>
                <a:latin typeface="Segoe UI"/>
              </a:defRPr>
            </a:pPr>
            <a:r>
              <a:t>- 8 brechas de madurez consideradas.</a:t>
            </a:r>
          </a:p>
          <a:p>
            <a:pPr>
              <a:spcAft>
                <a:spcPts val="200"/>
              </a:spcAft>
              <a:defRPr sz="1100">
                <a:solidFill>
                  <a:srgbClr val="555F6E"/>
                </a:solidFill>
                <a:latin typeface="Segoe UI"/>
              </a:defRPr>
            </a:pPr>
            <a:r>
              <a:t>- 7 áreas de proceso evaluadas.</a:t>
            </a:r>
          </a:p>
          <a:p>
            <a:pPr>
              <a:spcAft>
                <a:spcPts val="200"/>
              </a:spcAft>
              <a:defRPr sz="1100">
                <a:solidFill>
                  <a:srgbClr val="555F6E"/>
                </a:solidFill>
                <a:latin typeface="Segoe UI"/>
              </a:defRPr>
            </a:pPr>
            <a:r>
              <a:t>- 6 áreas operativas adaptadas: compras, recepción, fraccionamiento, inventario, ventas y distribución.</a:t>
            </a:r>
          </a:p>
          <a:p>
            <a:pPr>
              <a:spcAft>
                <a:spcPts val="200"/>
              </a:spcAft>
              <a:defRPr sz="1100">
                <a:solidFill>
                  <a:srgbClr val="555F6E"/>
                </a:solidFill>
                <a:latin typeface="Segoe UI"/>
              </a:defRPr>
            </a:pPr>
            <a:r>
              <a:t>- KPIs, GQM y Balanced Scorecard definidos.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645920"/>
            <a:ext cx="109728" cy="2194560"/>
          </a:xfrm>
          <a:prstGeom prst="rect">
            <a:avLst/>
          </a:prstGeom>
          <a:solidFill>
            <a:srgbClr val="0B2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828800"/>
            <a:ext cx="54864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>
                <a:latin typeface="Segoe UI"/>
              </a:defRPr>
            </a:pPr>
            <a:r>
              <a:t>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1828800"/>
            <a:ext cx="40690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B2F64"/>
                </a:solidFill>
                <a:latin typeface="Segoe UI"/>
              </a:defRPr>
            </a:pPr>
            <a:r>
              <a:t>PUNTOS MÁS RELEVANTES</a:t>
            </a:r>
          </a:p>
          <a:p>
            <a:pPr>
              <a:spcAft>
                <a:spcPts val="200"/>
              </a:spcAft>
              <a:defRPr sz="1100">
                <a:solidFill>
                  <a:srgbClr val="555F6E"/>
                </a:solidFill>
                <a:latin typeface="Segoe UI"/>
              </a:defRPr>
            </a:pPr>
            <a:r>
              <a:t>- Se define el alcance de la implementación.</a:t>
            </a:r>
          </a:p>
          <a:p>
            <a:pPr>
              <a:spcAft>
                <a:spcPts val="200"/>
              </a:spcAft>
              <a:defRPr sz="1100">
                <a:solidFill>
                  <a:srgbClr val="555F6E"/>
                </a:solidFill>
                <a:latin typeface="Segoe UI"/>
              </a:defRPr>
            </a:pPr>
            <a:r>
              <a:t>- Se diseñan los procesos futuros TO-BE.</a:t>
            </a:r>
          </a:p>
          <a:p>
            <a:pPr>
              <a:spcAft>
                <a:spcPts val="200"/>
              </a:spcAft>
              <a:defRPr sz="1100">
                <a:solidFill>
                  <a:srgbClr val="555F6E"/>
                </a:solidFill>
                <a:latin typeface="Segoe UI"/>
              </a:defRPr>
            </a:pPr>
            <a:r>
              <a:t>- Se establecen indicadores, riesgos, cronograma, roadmap y presupuesto.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1480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114800"/>
            <a:ext cx="109728" cy="2194560"/>
          </a:xfrm>
          <a:prstGeom prst="rect">
            <a:avLst/>
          </a:prstGeom>
          <a:solidFill>
            <a:srgbClr val="0B2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297680"/>
            <a:ext cx="54864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>
                <a:latin typeface="Segoe UI"/>
              </a:defRPr>
            </a:pPr>
            <a:r>
              <a:t>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4297680"/>
            <a:ext cx="40690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B2F64"/>
                </a:solidFill>
                <a:latin typeface="Segoe UI"/>
              </a:defRPr>
            </a:pPr>
            <a:r>
              <a:t>IMPACTO EN IVVI S.A.</a:t>
            </a:r>
          </a:p>
          <a:p>
            <a:pPr>
              <a:spcAft>
                <a:spcPts val="200"/>
              </a:spcAft>
              <a:defRPr sz="1100">
                <a:solidFill>
                  <a:srgbClr val="555F6E"/>
                </a:solidFill>
                <a:latin typeface="Segoe UI"/>
              </a:defRPr>
            </a:pPr>
            <a:r>
              <a:t>Convierte el diagnóstico en una planificación concreta y medible.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411480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4114800"/>
            <a:ext cx="109728" cy="21945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4297680"/>
            <a:ext cx="54864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>
                <a:latin typeface="Segoe UI"/>
              </a:defRPr>
            </a:pPr>
            <a:r>
              <a:t>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4297680"/>
            <a:ext cx="40690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B2F64"/>
                </a:solidFill>
                <a:latin typeface="Segoe UI"/>
              </a:defRPr>
            </a:pPr>
            <a:r>
              <a:t>CONEXIÓN CON LA SIGUIENTE FASE</a:t>
            </a:r>
          </a:p>
          <a:p>
            <a:pPr>
              <a:spcAft>
                <a:spcPts val="200"/>
              </a:spcAft>
              <a:defRPr sz="1100">
                <a:solidFill>
                  <a:srgbClr val="555F6E"/>
                </a:solidFill>
                <a:latin typeface="Segoe UI"/>
              </a:defRPr>
            </a:pPr>
            <a:r>
              <a:t>El diseño de procesos, KPIs y procedimientos sirve como base para capacitar al personal en la Fase 4.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64922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 i="0">
                <a:solidFill>
                  <a:srgbClr val="555F6E"/>
                </a:solidFill>
                <a:latin typeface="Segoe UI"/>
              </a:defRPr>
            </a:pPr>
            <a:r>
              <a:t>Fase 3 de 7 - Puntos Clave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0B2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-457200"/>
            <a:ext cx="2286000" cy="2286000"/>
          </a:xfrm>
          <a:prstGeom prst="ellipse">
            <a:avLst/>
          </a:prstGeom>
          <a:solidFill>
            <a:srgbClr val="16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371600" cy="1645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600" b="1">
                <a:solidFill>
                  <a:srgbClr val="194585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82880"/>
            <a:ext cx="7315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 b="1">
                <a:solidFill>
                  <a:srgbClr val="E87722"/>
                </a:solidFill>
                <a:latin typeface="Segoe UI"/>
              </a:defRPr>
            </a:pPr>
            <a:r>
              <a:t>F O R M A C I Ó 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57200"/>
            <a:ext cx="731520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Capacitación y Formación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365760"/>
            <a:ext cx="91440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600">
                <a:latin typeface="Segoe UI"/>
              </a:defRPr>
            </a:pPr>
            <a:r>
              <a:t>🎓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60" y="1645920"/>
            <a:ext cx="5425135" cy="5212080"/>
          </a:xfrm>
          <a:prstGeom prst="rect">
            <a:avLst/>
          </a:prstGeom>
          <a:solidFill>
            <a:srgbClr val="F1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0" y="2011680"/>
            <a:ext cx="46634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400" b="1">
                <a:solidFill>
                  <a:srgbClr val="E87722"/>
                </a:solidFill>
                <a:latin typeface="Segoe UI"/>
              </a:defRPr>
            </a:pPr>
            <a:r>
              <a:t>HERRAMIENTAS &amp; TÉCNICAS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46888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B2F64"/>
                </a:solidFill>
                <a:latin typeface="Segoe UI"/>
              </a:defRPr>
            </a:pPr>
            <a:r>
              <a:t>Skills Gap Matrix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246888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555F6E"/>
                </a:solidFill>
                <a:latin typeface="Segoe UI"/>
              </a:defRPr>
            </a:pPr>
            <a:r>
              <a:t>identificar brechas de capacitación por rol de usuario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3108960"/>
            <a:ext cx="4663440" cy="9144"/>
          </a:xfrm>
          <a:prstGeom prst="rect">
            <a:avLst/>
          </a:prstGeom>
          <a:solidFill>
            <a:srgbClr val="D2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0" y="320040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B2F64"/>
                </a:solidFill>
                <a:latin typeface="Segoe UI"/>
              </a:defRPr>
            </a:pPr>
            <a:r>
              <a:t>Plan de formación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320040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555F6E"/>
                </a:solidFill>
                <a:latin typeface="Segoe UI"/>
              </a:defRPr>
            </a:pPr>
            <a:r>
              <a:t>definición de cursos oficiales e internos de procesos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0" y="3840480"/>
            <a:ext cx="4663440" cy="9144"/>
          </a:xfrm>
          <a:prstGeom prst="rect">
            <a:avLst/>
          </a:prstGeom>
          <a:solidFill>
            <a:srgbClr val="D2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0" y="393192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B2F64"/>
                </a:solidFill>
                <a:latin typeface="Segoe UI"/>
              </a:defRPr>
            </a:pPr>
            <a:r>
              <a:t>Manuales operativos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393192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555F6E"/>
                </a:solidFill>
                <a:latin typeface="Segoe UI"/>
              </a:defRPr>
            </a:pPr>
            <a:r>
              <a:t>procedimientos detallados y plantillas estándar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0" y="4572000"/>
            <a:ext cx="4663440" cy="9144"/>
          </a:xfrm>
          <a:prstGeom prst="rect">
            <a:avLst/>
          </a:prstGeom>
          <a:solidFill>
            <a:srgbClr val="D2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0" y="466344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B2F64"/>
                </a:solidFill>
                <a:latin typeface="Segoe UI"/>
              </a:defRPr>
            </a:pPr>
            <a:r>
              <a:t>LMS / Wiki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466344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555F6E"/>
                </a:solidFill>
                <a:latin typeface="Segoe UI"/>
              </a:defRPr>
            </a:pPr>
            <a:r>
              <a:t>herramienta tecnológica para la Base de Conocimientos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0" y="5303520"/>
            <a:ext cx="4663440" cy="9144"/>
          </a:xfrm>
          <a:prstGeom prst="rect">
            <a:avLst/>
          </a:prstGeom>
          <a:solidFill>
            <a:srgbClr val="D2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0" y="539496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B2F64"/>
                </a:solidFill>
                <a:latin typeface="Segoe UI"/>
              </a:defRPr>
            </a:pPr>
            <a:r>
              <a:t>Modelo Kirkpatrick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539496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555F6E"/>
                </a:solidFill>
                <a:latin typeface="Segoe UI"/>
              </a:defRPr>
            </a:pPr>
            <a:r>
              <a:t>medir efectividad de la formación (hasta nivel 2)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0" y="6035040"/>
            <a:ext cx="4663440" cy="9144"/>
          </a:xfrm>
          <a:prstGeom prst="rect">
            <a:avLst/>
          </a:prstGeom>
          <a:solidFill>
            <a:srgbClr val="D2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2011680"/>
            <a:ext cx="56692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400" b="1">
                <a:solidFill>
                  <a:srgbClr val="E87722"/>
                </a:solidFill>
                <a:latin typeface="Segoe UI"/>
              </a:defRPr>
            </a:pPr>
            <a:r>
              <a:t>QUÉ SE HACE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377440"/>
            <a:ext cx="56692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0B2F64"/>
                </a:solidFill>
                <a:latin typeface="Segoe UI"/>
              </a:rPr>
              <a:t>▶   </a:t>
            </a:r>
            <a:r>
              <a:rPr sz="1300">
                <a:solidFill>
                  <a:srgbClr val="333333"/>
                </a:solidFill>
                <a:latin typeface="Segoe UI"/>
              </a:rPr>
              <a:t>Diagnosticar brechas de competencias y habilidades del personal.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B2F64"/>
                </a:solidFill>
                <a:latin typeface="Segoe UI"/>
              </a:rPr>
              <a:t>▶   </a:t>
            </a:r>
            <a:r>
              <a:rPr sz="1300">
                <a:solidFill>
                  <a:srgbClr val="333333"/>
                </a:solidFill>
                <a:latin typeface="Segoe UI"/>
              </a:rPr>
              <a:t>Capacitar formalmente al equipo en los nuevos procesos y CMMI.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B2F64"/>
                </a:solidFill>
                <a:latin typeface="Segoe UI"/>
              </a:rPr>
              <a:t>▶   </a:t>
            </a:r>
            <a:r>
              <a:rPr sz="1300">
                <a:solidFill>
                  <a:srgbClr val="333333"/>
                </a:solidFill>
                <a:latin typeface="Segoe UI"/>
              </a:rPr>
              <a:t>Preparar manuales de usuario, plantillas y procedimientos.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B2F64"/>
                </a:solidFill>
                <a:latin typeface="Segoe UI"/>
              </a:rPr>
              <a:t>▶   </a:t>
            </a:r>
            <a:r>
              <a:rPr sz="1300">
                <a:solidFill>
                  <a:srgbClr val="333333"/>
                </a:solidFill>
                <a:latin typeface="Segoe UI"/>
              </a:rPr>
              <a:t>Construir e implementar la Base de Conocimientos centralizada.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B2F64"/>
                </a:solidFill>
                <a:latin typeface="Segoe UI"/>
              </a:rPr>
              <a:t>▶   </a:t>
            </a:r>
            <a:r>
              <a:rPr sz="1300">
                <a:solidFill>
                  <a:srgbClr val="333333"/>
                </a:solidFill>
                <a:latin typeface="Segoe UI"/>
              </a:rPr>
              <a:t>Evaluar el nivel de aprendizaje y efectividad de los cursos.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389120"/>
            <a:ext cx="777240" cy="274320"/>
          </a:xfrm>
          <a:prstGeom prst="roundRect">
            <a:avLst/>
          </a:prstGeom>
          <a:solidFill>
            <a:srgbClr val="0B2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OT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417319" y="4389120"/>
            <a:ext cx="777240" cy="274320"/>
          </a:xfrm>
          <a:prstGeom prst="roundRect">
            <a:avLst/>
          </a:prstGeom>
          <a:solidFill>
            <a:srgbClr val="0B2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PAD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286000" y="4389120"/>
            <a:ext cx="777240" cy="274320"/>
          </a:xfrm>
          <a:prstGeom prst="roundRect">
            <a:avLst/>
          </a:prstGeom>
          <a:solidFill>
            <a:srgbClr val="0B2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II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937760"/>
            <a:ext cx="566928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AE6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029200"/>
            <a:ext cx="53035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7AE60"/>
                </a:solidFill>
                <a:latin typeface="Segoe UI"/>
              </a:defRPr>
            </a:pPr>
            <a:r>
              <a:t>📄  ENTREGABLE</a:t>
            </a:r>
          </a:p>
          <a:p>
            <a:pPr>
              <a:defRPr sz="1400" b="1">
                <a:solidFill>
                  <a:srgbClr val="0B2F64"/>
                </a:solidFill>
                <a:latin typeface="Segoe UI"/>
              </a:defRPr>
            </a:pPr>
            <a:r>
              <a:t>Personal Certificado y Base de Conocimientos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A0AF"/>
                </a:solidFill>
                <a:latin typeface="Segoe UI"/>
              </a:defRPr>
            </a:pPr>
            <a:r>
              <a:t>Fase 4 de 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 i="0">
                <a:solidFill>
                  <a:srgbClr val="E87722"/>
                </a:solidFill>
                <a:latin typeface="Segoe UI"/>
              </a:defRPr>
            </a:pPr>
            <a:r>
              <a:t>PUNTOS CLAVE - FASE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 i="0">
                <a:solidFill>
                  <a:srgbClr val="0B2F64"/>
                </a:solidFill>
                <a:latin typeface="Segoe UI"/>
              </a:defRPr>
            </a:pPr>
            <a:r>
              <a:t>Puntos clave de la Fase 4: Capacitación y Formación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828800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109728" cy="21945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54864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>
                <a:latin typeface="Segoe UI"/>
              </a:defRPr>
            </a:pPr>
            <a:r>
              <a:t>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828800"/>
            <a:ext cx="40690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B2F64"/>
                </a:solidFill>
                <a:latin typeface="Segoe UI"/>
              </a:defRPr>
            </a:pPr>
            <a:r>
              <a:t>NÚMEROS CLAVE</a:t>
            </a:r>
          </a:p>
          <a:p>
            <a:pPr>
              <a:spcAft>
                <a:spcPts val="200"/>
              </a:spcAft>
              <a:defRPr sz="1100">
                <a:solidFill>
                  <a:srgbClr val="555F6E"/>
                </a:solidFill>
                <a:latin typeface="Segoe UI"/>
              </a:defRPr>
            </a:pPr>
            <a:r>
              <a:t>- 3 sesiones principales: SOP Fraccionamiento, SOP Recepción/Inventario, Dashboard y KPIs.</a:t>
            </a:r>
          </a:p>
          <a:p>
            <a:pPr>
              <a:spcAft>
                <a:spcPts val="200"/>
              </a:spcAft>
              <a:defRPr sz="1100">
                <a:solidFill>
                  <a:srgbClr val="555F6E"/>
                </a:solidFill>
                <a:latin typeface="Segoe UI"/>
              </a:defRPr>
            </a:pPr>
            <a:r>
              <a:t>- Satisfacción mínima esperada: &gt;= 4.0 sobre 5.</a:t>
            </a:r>
          </a:p>
          <a:p>
            <a:pPr>
              <a:spcAft>
                <a:spcPts val="200"/>
              </a:spcAft>
              <a:defRPr sz="1100">
                <a:solidFill>
                  <a:srgbClr val="555F6E"/>
                </a:solidFill>
                <a:latin typeface="Segoe UI"/>
              </a:defRPr>
            </a:pPr>
            <a:r>
              <a:t>- Aprobación mínima esperada: &gt;= 80% en prueba práctica.</a:t>
            </a:r>
          </a:p>
          <a:p>
            <a:pPr>
              <a:spcAft>
                <a:spcPts val="200"/>
              </a:spcAft>
              <a:defRPr sz="1100">
                <a:solidFill>
                  <a:srgbClr val="555F6E"/>
                </a:solidFill>
                <a:latin typeface="Segoe UI"/>
              </a:defRPr>
            </a:pPr>
            <a:r>
              <a:t>- Registro esperado en ERP: &gt;= 90% de operaciones en plazo.</a:t>
            </a:r>
          </a:p>
          <a:p>
            <a:pPr>
              <a:spcAft>
                <a:spcPts val="200"/>
              </a:spcAft>
              <a:defRPr sz="1100">
                <a:solidFill>
                  <a:srgbClr val="555F6E"/>
                </a:solidFill>
                <a:latin typeface="Segoe UI"/>
              </a:defRPr>
            </a:pPr>
            <a:r>
              <a:t>- Meta de resultados: reducción &gt;= 20% en inconsistencias de inventario.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645920"/>
            <a:ext cx="109728" cy="2194560"/>
          </a:xfrm>
          <a:prstGeom prst="rect">
            <a:avLst/>
          </a:prstGeom>
          <a:solidFill>
            <a:srgbClr val="0B2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828800"/>
            <a:ext cx="54864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>
                <a:latin typeface="Segoe UI"/>
              </a:defRPr>
            </a:pPr>
            <a:r>
              <a:t>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1828800"/>
            <a:ext cx="40690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B2F64"/>
                </a:solidFill>
                <a:latin typeface="Segoe UI"/>
              </a:defRPr>
            </a:pPr>
            <a:r>
              <a:t>PUNTOS MÁS RELEVANTES</a:t>
            </a:r>
          </a:p>
          <a:p>
            <a:pPr>
              <a:spcAft>
                <a:spcPts val="200"/>
              </a:spcAft>
              <a:defRPr sz="1100">
                <a:solidFill>
                  <a:srgbClr val="555F6E"/>
                </a:solidFill>
                <a:latin typeface="Segoe UI"/>
              </a:defRPr>
            </a:pPr>
            <a:r>
              <a:t>- Se prepara al personal para aplicar los procesos diseñados.</a:t>
            </a:r>
          </a:p>
          <a:p>
            <a:pPr>
              <a:spcAft>
                <a:spcPts val="200"/>
              </a:spcAft>
              <a:defRPr sz="1100">
                <a:solidFill>
                  <a:srgbClr val="555F6E"/>
                </a:solidFill>
                <a:latin typeface="Segoe UI"/>
              </a:defRPr>
            </a:pPr>
            <a:r>
              <a:t>- Se construye una Base de Conocimientos.</a:t>
            </a:r>
          </a:p>
          <a:p>
            <a:pPr>
              <a:spcAft>
                <a:spcPts val="200"/>
              </a:spcAft>
              <a:defRPr sz="1100">
                <a:solidFill>
                  <a:srgbClr val="555F6E"/>
                </a:solidFill>
                <a:latin typeface="Segoe UI"/>
              </a:defRPr>
            </a:pPr>
            <a:r>
              <a:t>- Se evalúa el aprendizaje para asegurar la adopción real.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1480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114800"/>
            <a:ext cx="109728" cy="2194560"/>
          </a:xfrm>
          <a:prstGeom prst="rect">
            <a:avLst/>
          </a:prstGeom>
          <a:solidFill>
            <a:srgbClr val="0B2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297680"/>
            <a:ext cx="54864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>
                <a:latin typeface="Segoe UI"/>
              </a:defRPr>
            </a:pPr>
            <a:r>
              <a:t>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4297680"/>
            <a:ext cx="40690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B2F64"/>
                </a:solidFill>
                <a:latin typeface="Segoe UI"/>
              </a:defRPr>
            </a:pPr>
            <a:r>
              <a:t>IMPACTO EN IVVI S.A.</a:t>
            </a:r>
          </a:p>
          <a:p>
            <a:pPr>
              <a:spcAft>
                <a:spcPts val="200"/>
              </a:spcAft>
              <a:defRPr sz="1100">
                <a:solidFill>
                  <a:srgbClr val="555F6E"/>
                </a:solidFill>
                <a:latin typeface="Segoe UI"/>
              </a:defRPr>
            </a:pPr>
            <a:r>
              <a:t>Disminuye la dependencia del conocimiento tácito y fortalece la estandarización operativa.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411480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4114800"/>
            <a:ext cx="109728" cy="21945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4297680"/>
            <a:ext cx="54864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>
                <a:latin typeface="Segoe UI"/>
              </a:defRPr>
            </a:pPr>
            <a:r>
              <a:t>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4297680"/>
            <a:ext cx="40690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B2F64"/>
                </a:solidFill>
                <a:latin typeface="Segoe UI"/>
              </a:defRPr>
            </a:pPr>
            <a:r>
              <a:t>CONEXIÓN CON LA SIGUIENTE FASE</a:t>
            </a:r>
          </a:p>
          <a:p>
            <a:pPr>
              <a:spcAft>
                <a:spcPts val="200"/>
              </a:spcAft>
              <a:defRPr sz="1100">
                <a:solidFill>
                  <a:srgbClr val="555F6E"/>
                </a:solidFill>
                <a:latin typeface="Segoe UI"/>
              </a:defRPr>
            </a:pPr>
            <a:r>
              <a:t>El personal capacitado y los manuales aprobados permiten ejecutar los procesos en pilotos durante la Fase 5.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64922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 i="0">
                <a:solidFill>
                  <a:srgbClr val="555F6E"/>
                </a:solidFill>
                <a:latin typeface="Segoe UI"/>
              </a:defRPr>
            </a:pPr>
            <a:r>
              <a:t>Fase 4 de 7 - Puntos Clave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0B2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-457200"/>
            <a:ext cx="2286000" cy="2286000"/>
          </a:xfrm>
          <a:prstGeom prst="ellipse">
            <a:avLst/>
          </a:prstGeom>
          <a:solidFill>
            <a:srgbClr val="16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371600" cy="1645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600" b="1">
                <a:solidFill>
                  <a:srgbClr val="194585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82880"/>
            <a:ext cx="7315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 b="1">
                <a:solidFill>
                  <a:srgbClr val="E87722"/>
                </a:solidFill>
                <a:latin typeface="Segoe UI"/>
              </a:defRPr>
            </a:pPr>
            <a:r>
              <a:t>E J E C U C I Ó 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57200"/>
            <a:ext cx="731520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Despliegue y Ejecución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365760"/>
            <a:ext cx="91440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600">
                <a:latin typeface="Segoe UI"/>
              </a:defRPr>
            </a:pPr>
            <a:r>
              <a:t>🚀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60" y="1645920"/>
            <a:ext cx="5425135" cy="5212080"/>
          </a:xfrm>
          <a:prstGeom prst="rect">
            <a:avLst/>
          </a:prstGeom>
          <a:solidFill>
            <a:srgbClr val="F1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0" y="2011680"/>
            <a:ext cx="46634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400" b="1">
                <a:solidFill>
                  <a:srgbClr val="E87722"/>
                </a:solidFill>
                <a:latin typeface="Segoe UI"/>
              </a:defRPr>
            </a:pPr>
            <a:r>
              <a:t>HERRAMIENTAS &amp; TÉCNICAS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46888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B2F64"/>
                </a:solidFill>
                <a:latin typeface="Segoe UI"/>
              </a:defRPr>
            </a:pPr>
            <a:r>
              <a:t>Pilotos graduales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246888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555F6E"/>
                </a:solidFill>
                <a:latin typeface="Segoe UI"/>
              </a:defRPr>
            </a:pPr>
            <a:r>
              <a:t>despliegue controlado para mitigar riesgos de adopción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3108960"/>
            <a:ext cx="4663440" cy="9144"/>
          </a:xfrm>
          <a:prstGeom prst="rect">
            <a:avLst/>
          </a:prstGeom>
          <a:solidFill>
            <a:srgbClr val="D2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0" y="320040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B2F64"/>
                </a:solidFill>
                <a:latin typeface="Segoe UI"/>
              </a:defRPr>
            </a:pPr>
            <a:r>
              <a:t>Dashboards de KPIs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320040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555F6E"/>
                </a:solidFill>
                <a:latin typeface="Segoe UI"/>
              </a:defRPr>
            </a:pPr>
            <a:r>
              <a:t>monitoreo visual y en tiempo real del desempeño (MC)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0" y="3840480"/>
            <a:ext cx="4663440" cy="9144"/>
          </a:xfrm>
          <a:prstGeom prst="rect">
            <a:avLst/>
          </a:prstGeom>
          <a:solidFill>
            <a:srgbClr val="D2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0" y="393192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B2F64"/>
                </a:solidFill>
                <a:latin typeface="Segoe UI"/>
              </a:defRPr>
            </a:pPr>
            <a:r>
              <a:t>Status reviews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393192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555F6E"/>
                </a:solidFill>
                <a:latin typeface="Segoe UI"/>
              </a:defRPr>
            </a:pPr>
            <a:r>
              <a:t>reuniones de seguimiento y revisiones de avance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0" y="4572000"/>
            <a:ext cx="4663440" cy="9144"/>
          </a:xfrm>
          <a:prstGeom prst="rect">
            <a:avLst/>
          </a:prstGeom>
          <a:solidFill>
            <a:srgbClr val="D2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0" y="466344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B2F64"/>
                </a:solidFill>
                <a:latin typeface="Segoe UI"/>
              </a:defRPr>
            </a:pPr>
            <a:r>
              <a:t>Registro CAPA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466344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555F6E"/>
                </a:solidFill>
                <a:latin typeface="Segoe UI"/>
              </a:defRPr>
            </a:pPr>
            <a:r>
              <a:t>gestión y registro de acciones correctivas del piloto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0" y="5303520"/>
            <a:ext cx="4663440" cy="9144"/>
          </a:xfrm>
          <a:prstGeom prst="rect">
            <a:avLst/>
          </a:prstGeom>
          <a:solidFill>
            <a:srgbClr val="D2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0" y="539496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B2F64"/>
                </a:solidFill>
                <a:latin typeface="Segoe UI"/>
              </a:defRPr>
            </a:pPr>
            <a:r>
              <a:t>Lecciones aprendidas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539496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555F6E"/>
                </a:solidFill>
                <a:latin typeface="Segoe UI"/>
              </a:defRPr>
            </a:pPr>
            <a:r>
              <a:t>sesiones de retrospectiva y documentación técnica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0" y="6035040"/>
            <a:ext cx="4663440" cy="9144"/>
          </a:xfrm>
          <a:prstGeom prst="rect">
            <a:avLst/>
          </a:prstGeom>
          <a:solidFill>
            <a:srgbClr val="D2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2011680"/>
            <a:ext cx="56692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400" b="1">
                <a:solidFill>
                  <a:srgbClr val="E87722"/>
                </a:solidFill>
                <a:latin typeface="Segoe UI"/>
              </a:defRPr>
            </a:pPr>
            <a:r>
              <a:t>QUÉ SE HACE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377440"/>
            <a:ext cx="56692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0B2F64"/>
                </a:solidFill>
                <a:latin typeface="Segoe UI"/>
              </a:rPr>
              <a:t>▶   </a:t>
            </a:r>
            <a:r>
              <a:rPr sz="1300">
                <a:solidFill>
                  <a:srgbClr val="333333"/>
                </a:solidFill>
                <a:latin typeface="Segoe UI"/>
              </a:rPr>
              <a:t>Implementar nuevos procesos mediante proyectos piloto graduales.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B2F64"/>
                </a:solidFill>
                <a:latin typeface="Segoe UI"/>
              </a:rPr>
              <a:t>▶   </a:t>
            </a:r>
            <a:r>
              <a:rPr sz="1300">
                <a:solidFill>
                  <a:srgbClr val="333333"/>
                </a:solidFill>
                <a:latin typeface="Segoe UI"/>
              </a:rPr>
              <a:t>Ejecutar mejoras en compras, inventario, ventas y distribución.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B2F64"/>
                </a:solidFill>
                <a:latin typeface="Segoe UI"/>
              </a:rPr>
              <a:t>▶   </a:t>
            </a:r>
            <a:r>
              <a:rPr sz="1300">
                <a:solidFill>
                  <a:srgbClr val="333333"/>
                </a:solidFill>
                <a:latin typeface="Segoe UI"/>
              </a:rPr>
              <a:t>Recopilar datos reales de la operación cotidiana de los procesos.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B2F64"/>
                </a:solidFill>
                <a:latin typeface="Segoe UI"/>
              </a:rPr>
              <a:t>▶   </a:t>
            </a:r>
            <a:r>
              <a:rPr sz="1300">
                <a:solidFill>
                  <a:srgbClr val="333333"/>
                </a:solidFill>
                <a:latin typeface="Segoe UI"/>
              </a:rPr>
              <a:t>Monitorear indicadores de rendimiento operativo y de negocio.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B2F64"/>
                </a:solidFill>
                <a:latin typeface="Segoe UI"/>
              </a:rPr>
              <a:t>▶   </a:t>
            </a:r>
            <a:r>
              <a:rPr sz="1300">
                <a:solidFill>
                  <a:srgbClr val="333333"/>
                </a:solidFill>
                <a:latin typeface="Segoe UI"/>
              </a:rPr>
              <a:t>Documentar acciones correctivas y registrar lecciones aprendidas.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389120"/>
            <a:ext cx="777240" cy="274320"/>
          </a:xfrm>
          <a:prstGeom prst="roundRect">
            <a:avLst/>
          </a:prstGeom>
          <a:solidFill>
            <a:srgbClr val="0B2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MC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417319" y="4389120"/>
            <a:ext cx="777240" cy="274320"/>
          </a:xfrm>
          <a:prstGeom prst="roundRect">
            <a:avLst/>
          </a:prstGeom>
          <a:solidFill>
            <a:srgbClr val="0B2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CM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286000" y="4389120"/>
            <a:ext cx="777240" cy="274320"/>
          </a:xfrm>
          <a:prstGeom prst="roundRect">
            <a:avLst/>
          </a:prstGeom>
          <a:solidFill>
            <a:srgbClr val="0B2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154679" y="4389120"/>
            <a:ext cx="777240" cy="274320"/>
          </a:xfrm>
          <a:prstGeom prst="roundRect">
            <a:avLst/>
          </a:prstGeom>
          <a:solidFill>
            <a:srgbClr val="0B2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023359" y="4389120"/>
            <a:ext cx="777240" cy="274320"/>
          </a:xfrm>
          <a:prstGeom prst="roundRect">
            <a:avLst/>
          </a:prstGeom>
          <a:solidFill>
            <a:srgbClr val="0B2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RDM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892040" y="4389120"/>
            <a:ext cx="777240" cy="274320"/>
          </a:xfrm>
          <a:prstGeom prst="roundRect">
            <a:avLst/>
          </a:prstGeom>
          <a:solidFill>
            <a:srgbClr val="0B2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MPM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4937760"/>
            <a:ext cx="566928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AE6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029200"/>
            <a:ext cx="53035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7AE60"/>
                </a:solidFill>
                <a:latin typeface="Segoe UI"/>
              </a:defRPr>
            </a:pPr>
            <a:r>
              <a:t>📄  ENTREGABLE</a:t>
            </a:r>
          </a:p>
          <a:p>
            <a:pPr>
              <a:defRPr sz="1400" b="1">
                <a:solidFill>
                  <a:srgbClr val="0B2F64"/>
                </a:solidFill>
                <a:latin typeface="Segoe UI"/>
              </a:defRPr>
            </a:pPr>
            <a:r>
              <a:t>Procesos Institucionalizados y Resultados de Medición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A0AF"/>
                </a:solidFill>
                <a:latin typeface="Segoe UI"/>
              </a:defRPr>
            </a:pPr>
            <a:r>
              <a:t>Fase 5 de 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 i="0">
                <a:solidFill>
                  <a:srgbClr val="E87722"/>
                </a:solidFill>
                <a:latin typeface="Segoe UI"/>
              </a:defRPr>
            </a:pPr>
            <a:r>
              <a:t>PUNTOS CLAVE - FASE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 i="0">
                <a:solidFill>
                  <a:srgbClr val="0B2F64"/>
                </a:solidFill>
                <a:latin typeface="Segoe UI"/>
              </a:defRPr>
            </a:pPr>
            <a:r>
              <a:t>Puntos clave de la Fase 5: Despliegue y Ejecución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828800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109728" cy="21945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54864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>
                <a:latin typeface="Segoe UI"/>
              </a:defRPr>
            </a:pPr>
            <a:r>
              <a:t>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828800"/>
            <a:ext cx="40690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B2F64"/>
                </a:solidFill>
                <a:latin typeface="Segoe UI"/>
              </a:defRPr>
            </a:pPr>
            <a:r>
              <a:t>NÚMEROS CLAVE</a:t>
            </a:r>
          </a:p>
          <a:p>
            <a:pPr>
              <a:spcAft>
                <a:spcPts val="200"/>
              </a:spcAft>
              <a:defRPr sz="1100">
                <a:solidFill>
                  <a:srgbClr val="555F6E"/>
                </a:solidFill>
                <a:latin typeface="Segoe UI"/>
              </a:defRPr>
            </a:pPr>
            <a:r>
              <a:t>- 4 pilotos de implementación.</a:t>
            </a:r>
          </a:p>
          <a:p>
            <a:pPr>
              <a:spcAft>
                <a:spcPts val="200"/>
              </a:spcAft>
              <a:defRPr sz="1100">
                <a:solidFill>
                  <a:srgbClr val="555F6E"/>
                </a:solidFill>
                <a:latin typeface="Segoe UI"/>
              </a:defRPr>
            </a:pPr>
            <a:r>
              <a:t>- Duración estimada total: 14 semanas.</a:t>
            </a:r>
          </a:p>
          <a:p>
            <a:pPr>
              <a:spcAft>
                <a:spcPts val="200"/>
              </a:spcAft>
              <a:defRPr sz="1100">
                <a:solidFill>
                  <a:srgbClr val="555F6E"/>
                </a:solidFill>
                <a:latin typeface="Segoe UI"/>
              </a:defRPr>
            </a:pPr>
            <a:r>
              <a:t>- Reducción de inconsistencias de inventario: ~60%.</a:t>
            </a:r>
          </a:p>
          <a:p>
            <a:pPr>
              <a:spcAft>
                <a:spcPts val="200"/>
              </a:spcAft>
              <a:defRPr sz="1100">
                <a:solidFill>
                  <a:srgbClr val="555F6E"/>
                </a:solidFill>
                <a:latin typeface="Segoe UI"/>
              </a:defRPr>
            </a:pPr>
            <a:r>
              <a:t>- Reducción de quiebres de stock: ~50%.</a:t>
            </a:r>
          </a:p>
          <a:p>
            <a:pPr>
              <a:spcAft>
                <a:spcPts val="200"/>
              </a:spcAft>
              <a:defRPr sz="1100">
                <a:solidFill>
                  <a:srgbClr val="555F6E"/>
                </a:solidFill>
                <a:latin typeface="Segoe UI"/>
              </a:defRPr>
            </a:pPr>
            <a:r>
              <a:t>- Reducción de tiempo de ciclo de OC: ~20%.</a:t>
            </a:r>
          </a:p>
          <a:p>
            <a:pPr>
              <a:spcAft>
                <a:spcPts val="200"/>
              </a:spcAft>
              <a:defRPr sz="1100">
                <a:solidFill>
                  <a:srgbClr val="555F6E"/>
                </a:solidFill>
                <a:latin typeface="Segoe UI"/>
              </a:defRPr>
            </a:pPr>
            <a:r>
              <a:t>- Reducción de merma en fraccionamiento: ~60%.</a:t>
            </a:r>
          </a:p>
          <a:p>
            <a:pPr>
              <a:spcAft>
                <a:spcPts val="200"/>
              </a:spcAft>
              <a:defRPr sz="1100">
                <a:solidFill>
                  <a:srgbClr val="555F6E"/>
                </a:solidFill>
                <a:latin typeface="Segoe UI"/>
              </a:defRPr>
            </a:pPr>
            <a:r>
              <a:t>- Mejora estimada en satisfacción del cliente: +10%.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645920"/>
            <a:ext cx="109728" cy="2194560"/>
          </a:xfrm>
          <a:prstGeom prst="rect">
            <a:avLst/>
          </a:prstGeom>
          <a:solidFill>
            <a:srgbClr val="0B2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828800"/>
            <a:ext cx="54864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>
                <a:latin typeface="Segoe UI"/>
              </a:defRPr>
            </a:pPr>
            <a:r>
              <a:t>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1828800"/>
            <a:ext cx="40690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B2F64"/>
                </a:solidFill>
                <a:latin typeface="Segoe UI"/>
              </a:defRPr>
            </a:pPr>
            <a:r>
              <a:t>PUNTOS MÁS RELEVANTES</a:t>
            </a:r>
          </a:p>
          <a:p>
            <a:pPr>
              <a:spcAft>
                <a:spcPts val="200"/>
              </a:spcAft>
              <a:defRPr sz="1100">
                <a:solidFill>
                  <a:srgbClr val="555F6E"/>
                </a:solidFill>
                <a:latin typeface="Segoe UI"/>
              </a:defRPr>
            </a:pPr>
            <a:r>
              <a:t>- Se prueban los procesos TO-BE en condiciones reales.</a:t>
            </a:r>
          </a:p>
          <a:p>
            <a:pPr>
              <a:spcAft>
                <a:spcPts val="200"/>
              </a:spcAft>
              <a:defRPr sz="1100">
                <a:solidFill>
                  <a:srgbClr val="555F6E"/>
                </a:solidFill>
                <a:latin typeface="Segoe UI"/>
              </a:defRPr>
            </a:pPr>
            <a:r>
              <a:t>- Se recopilan datos operativos mediante KPIs.</a:t>
            </a:r>
          </a:p>
          <a:p>
            <a:pPr>
              <a:spcAft>
                <a:spcPts val="200"/>
              </a:spcAft>
              <a:defRPr sz="1100">
                <a:solidFill>
                  <a:srgbClr val="555F6E"/>
                </a:solidFill>
                <a:latin typeface="Segoe UI"/>
              </a:defRPr>
            </a:pPr>
            <a:r>
              <a:t>- Se documentan desviaciones, acciones correctivas y lecciones aprendidas.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1480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114800"/>
            <a:ext cx="109728" cy="2194560"/>
          </a:xfrm>
          <a:prstGeom prst="rect">
            <a:avLst/>
          </a:prstGeom>
          <a:solidFill>
            <a:srgbClr val="0B2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297680"/>
            <a:ext cx="54864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>
                <a:latin typeface="Segoe UI"/>
              </a:defRPr>
            </a:pPr>
            <a:r>
              <a:t>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4297680"/>
            <a:ext cx="40690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B2F64"/>
                </a:solidFill>
                <a:latin typeface="Segoe UI"/>
              </a:defRPr>
            </a:pPr>
            <a:r>
              <a:t>IMPACTO EN IVVI S.A.</a:t>
            </a:r>
          </a:p>
          <a:p>
            <a:pPr>
              <a:spcAft>
                <a:spcPts val="200"/>
              </a:spcAft>
              <a:defRPr sz="1100">
                <a:solidFill>
                  <a:srgbClr val="555F6E"/>
                </a:solidFill>
                <a:latin typeface="Segoe UI"/>
              </a:defRPr>
            </a:pPr>
            <a:r>
              <a:t>Permite comprobar si los procesos diseñados funcionan en la operación real.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411480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4114800"/>
            <a:ext cx="109728" cy="21945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4297680"/>
            <a:ext cx="54864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>
                <a:latin typeface="Segoe UI"/>
              </a:defRPr>
            </a:pPr>
            <a:r>
              <a:t>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4297680"/>
            <a:ext cx="40690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B2F64"/>
                </a:solidFill>
                <a:latin typeface="Segoe UI"/>
              </a:defRPr>
            </a:pPr>
            <a:r>
              <a:t>CONEXIÓN CON LA SIGUIENTE FASE</a:t>
            </a:r>
          </a:p>
          <a:p>
            <a:pPr>
              <a:spcAft>
                <a:spcPts val="200"/>
              </a:spcAft>
              <a:defRPr sz="1100">
                <a:solidFill>
                  <a:srgbClr val="555F6E"/>
                </a:solidFill>
                <a:latin typeface="Segoe UI"/>
              </a:defRPr>
            </a:pPr>
            <a:r>
              <a:t>Los resultados del piloto se convierten en evidencia para la auditoría, verificación y evaluación en la Fase 6.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64922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 i="0">
                <a:solidFill>
                  <a:srgbClr val="555F6E"/>
                </a:solidFill>
                <a:latin typeface="Segoe UI"/>
              </a:defRPr>
            </a:pPr>
            <a:r>
              <a:t>Fase 5 de 7 - Puntos Clave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0B2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-457200"/>
            <a:ext cx="2286000" cy="2286000"/>
          </a:xfrm>
          <a:prstGeom prst="ellipse">
            <a:avLst/>
          </a:prstGeom>
          <a:solidFill>
            <a:srgbClr val="16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371600" cy="1645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600" b="1">
                <a:solidFill>
                  <a:srgbClr val="194585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82880"/>
            <a:ext cx="7315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 b="1">
                <a:solidFill>
                  <a:srgbClr val="E87722"/>
                </a:solidFill>
                <a:latin typeface="Segoe UI"/>
              </a:defRPr>
            </a:pPr>
            <a:r>
              <a:t>E V A L U A C I Ó 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57200"/>
            <a:ext cx="731520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Verificación y Evaluación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365760"/>
            <a:ext cx="91440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600">
                <a:latin typeface="Segoe UI"/>
              </a:defRPr>
            </a:pPr>
            <a:r>
              <a:t>✅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60" y="1645920"/>
            <a:ext cx="5425135" cy="5212080"/>
          </a:xfrm>
          <a:prstGeom prst="rect">
            <a:avLst/>
          </a:prstGeom>
          <a:solidFill>
            <a:srgbClr val="F1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0" y="2011680"/>
            <a:ext cx="46634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400" b="1">
                <a:solidFill>
                  <a:srgbClr val="E87722"/>
                </a:solidFill>
                <a:latin typeface="Segoe UI"/>
              </a:defRPr>
            </a:pPr>
            <a:r>
              <a:t>HERRAMIENTAS &amp; TÉCNICAS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46888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B2F64"/>
                </a:solidFill>
                <a:latin typeface="Segoe UI"/>
              </a:defRPr>
            </a:pPr>
            <a:r>
              <a:t>Lista de verificación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246888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555F6E"/>
                </a:solidFill>
                <a:latin typeface="Segoe UI"/>
              </a:defRPr>
            </a:pPr>
            <a:r>
              <a:t>herramienta de control para verificar cumplimiento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3108960"/>
            <a:ext cx="4663440" cy="9144"/>
          </a:xfrm>
          <a:prstGeom prst="rect">
            <a:avLst/>
          </a:prstGeom>
          <a:solidFill>
            <a:srgbClr val="D2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0" y="320040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B2F64"/>
                </a:solidFill>
                <a:latin typeface="Segoe UI"/>
              </a:defRPr>
            </a:pPr>
            <a:r>
              <a:t>Auditoría interna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320040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555F6E"/>
                </a:solidFill>
                <a:latin typeface="Segoe UI"/>
              </a:defRPr>
            </a:pPr>
            <a:r>
              <a:t>evaluar conformidad de procesos y productos (PQA)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0" y="3840480"/>
            <a:ext cx="4663440" cy="9144"/>
          </a:xfrm>
          <a:prstGeom prst="rect">
            <a:avLst/>
          </a:prstGeom>
          <a:solidFill>
            <a:srgbClr val="D2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0" y="393192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B2F64"/>
                </a:solidFill>
                <a:latin typeface="Segoe UI"/>
              </a:defRPr>
            </a:pPr>
            <a:r>
              <a:t>Reevaluación GAP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393192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555F6E"/>
                </a:solidFill>
                <a:latin typeface="Segoe UI"/>
              </a:defRPr>
            </a:pPr>
            <a:r>
              <a:t>análisis final comparativo contra la línea base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0" y="4572000"/>
            <a:ext cx="4663440" cy="9144"/>
          </a:xfrm>
          <a:prstGeom prst="rect">
            <a:avLst/>
          </a:prstGeom>
          <a:solidFill>
            <a:srgbClr val="D2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0" y="466344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B2F64"/>
                </a:solidFill>
                <a:latin typeface="Segoe UI"/>
              </a:defRPr>
            </a:pPr>
            <a:r>
              <a:t>Análisis de KPIs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466344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555F6E"/>
                </a:solidFill>
                <a:latin typeface="Segoe UI"/>
              </a:defRPr>
            </a:pPr>
            <a:r>
              <a:t>evaluar si se cumplieron las metas cuantitativas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0" y="5303520"/>
            <a:ext cx="4663440" cy="9144"/>
          </a:xfrm>
          <a:prstGeom prst="rect">
            <a:avLst/>
          </a:prstGeom>
          <a:solidFill>
            <a:srgbClr val="D2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0" y="539496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B2F64"/>
                </a:solidFill>
                <a:latin typeface="Segoe UI"/>
              </a:defRPr>
            </a:pPr>
            <a:r>
              <a:t>Acciones correctivas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539496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555F6E"/>
                </a:solidFill>
                <a:latin typeface="Segoe UI"/>
              </a:defRPr>
            </a:pPr>
            <a:r>
              <a:t>desarrollo y seguimiento de planes CAPA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0" y="6035040"/>
            <a:ext cx="4663440" cy="9144"/>
          </a:xfrm>
          <a:prstGeom prst="rect">
            <a:avLst/>
          </a:prstGeom>
          <a:solidFill>
            <a:srgbClr val="D2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2011680"/>
            <a:ext cx="56692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400" b="1">
                <a:solidFill>
                  <a:srgbClr val="E87722"/>
                </a:solidFill>
                <a:latin typeface="Segoe UI"/>
              </a:defRPr>
            </a:pPr>
            <a:r>
              <a:t>QUÉ SE HACE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377440"/>
            <a:ext cx="56692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0B2F64"/>
                </a:solidFill>
                <a:latin typeface="Segoe UI"/>
              </a:rPr>
              <a:t>▶   </a:t>
            </a:r>
            <a:r>
              <a:rPr sz="1300">
                <a:solidFill>
                  <a:srgbClr val="333333"/>
                </a:solidFill>
                <a:latin typeface="Segoe UI"/>
              </a:rPr>
              <a:t>Realizar auditoría interna del cumplimiento de procesos.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B2F64"/>
                </a:solidFill>
                <a:latin typeface="Segoe UI"/>
              </a:rPr>
              <a:t>▶   </a:t>
            </a:r>
            <a:r>
              <a:rPr sz="1300">
                <a:solidFill>
                  <a:srgbClr val="333333"/>
                </a:solidFill>
                <a:latin typeface="Segoe UI"/>
              </a:rPr>
              <a:t>Evaluar la adherencia a los procesos definidos y estándares.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B2F64"/>
                </a:solidFill>
                <a:latin typeface="Segoe UI"/>
              </a:rPr>
              <a:t>▶   </a:t>
            </a:r>
            <a:r>
              <a:rPr sz="1300">
                <a:solidFill>
                  <a:srgbClr val="333333"/>
                </a:solidFill>
                <a:latin typeface="Segoe UI"/>
              </a:rPr>
              <a:t>Validar resultados de la operación frente a los KPIs objetivo.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B2F64"/>
                </a:solidFill>
                <a:latin typeface="Segoe UI"/>
              </a:rPr>
              <a:t>▶   </a:t>
            </a:r>
            <a:r>
              <a:rPr sz="1300">
                <a:solidFill>
                  <a:srgbClr val="333333"/>
                </a:solidFill>
                <a:latin typeface="Segoe UI"/>
              </a:rPr>
              <a:t>Identificar no conformidades, desvíos y áreas de mejora.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B2F64"/>
                </a:solidFill>
                <a:latin typeface="Segoe UI"/>
              </a:rPr>
              <a:t>▶   </a:t>
            </a:r>
            <a:r>
              <a:rPr sz="1300">
                <a:solidFill>
                  <a:srgbClr val="333333"/>
                </a:solidFill>
                <a:latin typeface="Segoe UI"/>
              </a:rPr>
              <a:t>Definir acciones correctivas y preventivas del plan de acción.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389120"/>
            <a:ext cx="777240" cy="274320"/>
          </a:xfrm>
          <a:prstGeom prst="roundRect">
            <a:avLst/>
          </a:prstGeom>
          <a:solidFill>
            <a:srgbClr val="0B2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PQA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417319" y="4389120"/>
            <a:ext cx="777240" cy="274320"/>
          </a:xfrm>
          <a:prstGeom prst="roundRect">
            <a:avLst/>
          </a:prstGeom>
          <a:solidFill>
            <a:srgbClr val="0B2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VV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286000" y="4389120"/>
            <a:ext cx="777240" cy="274320"/>
          </a:xfrm>
          <a:prstGeom prst="roundRect">
            <a:avLst/>
          </a:prstGeom>
          <a:solidFill>
            <a:srgbClr val="0B2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154679" y="4389120"/>
            <a:ext cx="777240" cy="274320"/>
          </a:xfrm>
          <a:prstGeom prst="roundRect">
            <a:avLst/>
          </a:prstGeom>
          <a:solidFill>
            <a:srgbClr val="0B2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DAR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023359" y="4389120"/>
            <a:ext cx="777240" cy="274320"/>
          </a:xfrm>
          <a:prstGeom prst="roundRect">
            <a:avLst/>
          </a:prstGeom>
          <a:solidFill>
            <a:srgbClr val="0B2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CAR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937760"/>
            <a:ext cx="566928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AE6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5029200"/>
            <a:ext cx="53035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7AE60"/>
                </a:solidFill>
                <a:latin typeface="Segoe UI"/>
              </a:defRPr>
            </a:pPr>
            <a:r>
              <a:t>📄  ENTREGABLE</a:t>
            </a:r>
          </a:p>
          <a:p>
            <a:pPr>
              <a:defRPr sz="1400" b="1">
                <a:solidFill>
                  <a:srgbClr val="0B2F64"/>
                </a:solidFill>
                <a:latin typeface="Segoe UI"/>
              </a:defRPr>
            </a:pPr>
            <a:r>
              <a:t>Informe de Evaluación Interna y Acciones Correctivas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A0AF"/>
                </a:solidFill>
                <a:latin typeface="Segoe UI"/>
              </a:defRPr>
            </a:pPr>
            <a:r>
              <a:t>Fase 6 de 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 i="0">
                <a:solidFill>
                  <a:srgbClr val="E87722"/>
                </a:solidFill>
                <a:latin typeface="Segoe UI"/>
              </a:defRPr>
            </a:pPr>
            <a:r>
              <a:t>PUNTOS CLAVE - FASE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 i="0">
                <a:solidFill>
                  <a:srgbClr val="0B2F64"/>
                </a:solidFill>
                <a:latin typeface="Segoe UI"/>
              </a:defRPr>
            </a:pPr>
            <a:r>
              <a:t>Puntos clave de la Fase 6: Verificación y Evaluación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828800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109728" cy="21945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54864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>
                <a:latin typeface="Segoe UI"/>
              </a:defRPr>
            </a:pPr>
            <a:r>
              <a:t>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828800"/>
            <a:ext cx="40690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B2F64"/>
                </a:solidFill>
                <a:latin typeface="Segoe UI"/>
              </a:defRPr>
            </a:pPr>
            <a:r>
              <a:t>NÚMEROS CLAVE</a:t>
            </a:r>
          </a:p>
          <a:p>
            <a:pPr>
              <a:spcAft>
                <a:spcPts val="200"/>
              </a:spcAft>
              <a:defRPr sz="1100">
                <a:solidFill>
                  <a:srgbClr val="555F6E"/>
                </a:solidFill>
                <a:latin typeface="Segoe UI"/>
              </a:defRPr>
            </a:pPr>
            <a:r>
              <a:t>- 1 auditoría interna.</a:t>
            </a:r>
          </a:p>
          <a:p>
            <a:pPr>
              <a:spcAft>
                <a:spcPts val="200"/>
              </a:spcAft>
              <a:defRPr sz="1100">
                <a:solidFill>
                  <a:srgbClr val="555F6E"/>
                </a:solidFill>
                <a:latin typeface="Segoe UI"/>
              </a:defRPr>
            </a:pPr>
            <a:r>
              <a:t>- 1 lista de verificación de cumplimiento.</a:t>
            </a:r>
          </a:p>
          <a:p>
            <a:pPr>
              <a:spcAft>
                <a:spcPts val="200"/>
              </a:spcAft>
              <a:defRPr sz="1100">
                <a:solidFill>
                  <a:srgbClr val="555F6E"/>
                </a:solidFill>
                <a:latin typeface="Segoe UI"/>
              </a:defRPr>
            </a:pPr>
            <a:r>
              <a:t>- 1 reevaluación GAP.</a:t>
            </a:r>
          </a:p>
          <a:p>
            <a:pPr>
              <a:spcAft>
                <a:spcPts val="200"/>
              </a:spcAft>
              <a:defRPr sz="1100">
                <a:solidFill>
                  <a:srgbClr val="555F6E"/>
                </a:solidFill>
                <a:latin typeface="Segoe UI"/>
              </a:defRPr>
            </a:pPr>
            <a:r>
              <a:t>- KPIs comparados contra línea base.</a:t>
            </a:r>
          </a:p>
          <a:p>
            <a:pPr>
              <a:spcAft>
                <a:spcPts val="200"/>
              </a:spcAft>
              <a:defRPr sz="1100">
                <a:solidFill>
                  <a:srgbClr val="555F6E"/>
                </a:solidFill>
                <a:latin typeface="Segoe UI"/>
              </a:defRPr>
            </a:pPr>
            <a:r>
              <a:t>- Acciones correctivas y preventivas definidas.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645920"/>
            <a:ext cx="109728" cy="2194560"/>
          </a:xfrm>
          <a:prstGeom prst="rect">
            <a:avLst/>
          </a:prstGeom>
          <a:solidFill>
            <a:srgbClr val="0B2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828800"/>
            <a:ext cx="54864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>
                <a:latin typeface="Segoe UI"/>
              </a:defRPr>
            </a:pPr>
            <a:r>
              <a:t>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1828800"/>
            <a:ext cx="40690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B2F64"/>
                </a:solidFill>
                <a:latin typeface="Segoe UI"/>
              </a:defRPr>
            </a:pPr>
            <a:r>
              <a:t>PUNTOS MÁS RELEVANTES</a:t>
            </a:r>
          </a:p>
          <a:p>
            <a:pPr>
              <a:spcAft>
                <a:spcPts val="200"/>
              </a:spcAft>
              <a:defRPr sz="1100">
                <a:solidFill>
                  <a:srgbClr val="555F6E"/>
                </a:solidFill>
                <a:latin typeface="Segoe UI"/>
              </a:defRPr>
            </a:pPr>
            <a:r>
              <a:t>- Se verifica si los procesos cumplen con lo planificado.</a:t>
            </a:r>
          </a:p>
          <a:p>
            <a:pPr>
              <a:spcAft>
                <a:spcPts val="200"/>
              </a:spcAft>
              <a:defRPr sz="1100">
                <a:solidFill>
                  <a:srgbClr val="555F6E"/>
                </a:solidFill>
                <a:latin typeface="Segoe UI"/>
              </a:defRPr>
            </a:pPr>
            <a:r>
              <a:t>- Se identifican no conformidades y desviaciones.</a:t>
            </a:r>
          </a:p>
          <a:p>
            <a:pPr>
              <a:spcAft>
                <a:spcPts val="200"/>
              </a:spcAft>
              <a:defRPr sz="1100">
                <a:solidFill>
                  <a:srgbClr val="555F6E"/>
                </a:solidFill>
                <a:latin typeface="Segoe UI"/>
              </a:defRPr>
            </a:pPr>
            <a:r>
              <a:t>- Se aprueba el informe de evaluación interna.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1480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114800"/>
            <a:ext cx="109728" cy="2194560"/>
          </a:xfrm>
          <a:prstGeom prst="rect">
            <a:avLst/>
          </a:prstGeom>
          <a:solidFill>
            <a:srgbClr val="0B2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297680"/>
            <a:ext cx="54864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>
                <a:latin typeface="Segoe UI"/>
              </a:defRPr>
            </a:pPr>
            <a:r>
              <a:t>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4297680"/>
            <a:ext cx="40690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B2F64"/>
                </a:solidFill>
                <a:latin typeface="Segoe UI"/>
              </a:defRPr>
            </a:pPr>
            <a:r>
              <a:t>IMPACTO EN IVVI S.A.</a:t>
            </a:r>
          </a:p>
          <a:p>
            <a:pPr>
              <a:spcAft>
                <a:spcPts val="200"/>
              </a:spcAft>
              <a:defRPr sz="1100">
                <a:solidFill>
                  <a:srgbClr val="555F6E"/>
                </a:solidFill>
                <a:latin typeface="Segoe UI"/>
              </a:defRPr>
            </a:pPr>
            <a:r>
              <a:t>Permite validar objetivamente si la mejora implementada produjo resultados.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411480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4114800"/>
            <a:ext cx="109728" cy="21945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4297680"/>
            <a:ext cx="54864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>
                <a:latin typeface="Segoe UI"/>
              </a:defRPr>
            </a:pPr>
            <a:r>
              <a:t>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4297680"/>
            <a:ext cx="40690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B2F64"/>
                </a:solidFill>
                <a:latin typeface="Segoe UI"/>
              </a:defRPr>
            </a:pPr>
            <a:r>
              <a:t>CONEXIÓN CON LA SIGUIENTE FASE</a:t>
            </a:r>
          </a:p>
          <a:p>
            <a:pPr>
              <a:spcAft>
                <a:spcPts val="200"/>
              </a:spcAft>
              <a:defRPr sz="1100">
                <a:solidFill>
                  <a:srgbClr val="555F6E"/>
                </a:solidFill>
                <a:latin typeface="Segoe UI"/>
              </a:defRPr>
            </a:pPr>
            <a:r>
              <a:t>Las acciones correctivas y resultados de evaluación sirven como base para institucionalizar la mejora continua en la Fase 7.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64922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 i="0">
                <a:solidFill>
                  <a:srgbClr val="555F6E"/>
                </a:solidFill>
                <a:latin typeface="Segoe UI"/>
              </a:defRPr>
            </a:pPr>
            <a:r>
              <a:t>Fase 6 de 7 - Puntos Clave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0B2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-457200"/>
            <a:ext cx="2286000" cy="2286000"/>
          </a:xfrm>
          <a:prstGeom prst="ellipse">
            <a:avLst/>
          </a:prstGeom>
          <a:solidFill>
            <a:srgbClr val="16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371600" cy="1645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600" b="1">
                <a:solidFill>
                  <a:srgbClr val="194585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82880"/>
            <a:ext cx="7315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 b="1">
                <a:solidFill>
                  <a:srgbClr val="E87722"/>
                </a:solidFill>
                <a:latin typeface="Segoe UI"/>
              </a:defRPr>
            </a:pPr>
            <a:r>
              <a:t>O P T I M I Z A C I Ó 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57200"/>
            <a:ext cx="731520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Mejora Continua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365760"/>
            <a:ext cx="91440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600">
                <a:latin typeface="Segoe UI"/>
              </a:defRPr>
            </a:pPr>
            <a:r>
              <a:t>📈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60" y="1645920"/>
            <a:ext cx="5425135" cy="5212080"/>
          </a:xfrm>
          <a:prstGeom prst="rect">
            <a:avLst/>
          </a:prstGeom>
          <a:solidFill>
            <a:srgbClr val="F1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0" y="2011680"/>
            <a:ext cx="46634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400" b="1">
                <a:solidFill>
                  <a:srgbClr val="E87722"/>
                </a:solidFill>
                <a:latin typeface="Segoe UI"/>
              </a:defRPr>
            </a:pPr>
            <a:r>
              <a:t>HERRAMIENTAS &amp; TÉCNICAS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46888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B2F64"/>
                </a:solidFill>
                <a:latin typeface="Segoe UI"/>
              </a:defRPr>
            </a:pPr>
            <a:r>
              <a:t>Dashboard gerencial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246888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555F6E"/>
                </a:solidFill>
                <a:latin typeface="Segoe UI"/>
              </a:defRPr>
            </a:pPr>
            <a:r>
              <a:t>seguimiento ejecutivo de los KPIs globales de IVVI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3108960"/>
            <a:ext cx="4663440" cy="9144"/>
          </a:xfrm>
          <a:prstGeom prst="rect">
            <a:avLst/>
          </a:prstGeom>
          <a:solidFill>
            <a:srgbClr val="D2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0" y="320040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B2F64"/>
                </a:solidFill>
                <a:latin typeface="Segoe UI"/>
              </a:defRPr>
            </a:pPr>
            <a:r>
              <a:t>Análisis de tendencias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320040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555F6E"/>
                </a:solidFill>
                <a:latin typeface="Segoe UI"/>
              </a:defRPr>
            </a:pPr>
            <a:r>
              <a:t>uso de control estadístico para evaluar desempeño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0" y="3840480"/>
            <a:ext cx="4663440" cy="9144"/>
          </a:xfrm>
          <a:prstGeom prst="rect">
            <a:avLst/>
          </a:prstGeom>
          <a:solidFill>
            <a:srgbClr val="D2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0" y="393192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B2F64"/>
                </a:solidFill>
                <a:latin typeface="Segoe UI"/>
              </a:defRPr>
            </a:pPr>
            <a:r>
              <a:t>Ciclo PDCA / Kaizen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393192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555F6E"/>
                </a:solidFill>
                <a:latin typeface="Segoe UI"/>
              </a:defRPr>
            </a:pPr>
            <a:r>
              <a:t>metodología de optimización e innovación constante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0" y="4572000"/>
            <a:ext cx="4663440" cy="9144"/>
          </a:xfrm>
          <a:prstGeom prst="rect">
            <a:avLst/>
          </a:prstGeom>
          <a:solidFill>
            <a:srgbClr val="D2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0" y="466344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B2F64"/>
                </a:solidFill>
                <a:latin typeface="Segoe UI"/>
              </a:defRPr>
            </a:pPr>
            <a:r>
              <a:t>Retrospectivas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466344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555F6E"/>
                </a:solidFill>
                <a:latin typeface="Segoe UI"/>
              </a:defRPr>
            </a:pPr>
            <a:r>
              <a:t>análisis de cierre de ciclo de implementación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0" y="5303520"/>
            <a:ext cx="4663440" cy="9144"/>
          </a:xfrm>
          <a:prstGeom prst="rect">
            <a:avLst/>
          </a:prstGeom>
          <a:solidFill>
            <a:srgbClr val="D2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0" y="539496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B2F64"/>
                </a:solidFill>
                <a:latin typeface="Segoe UI"/>
              </a:defRPr>
            </a:pPr>
            <a:r>
              <a:t>Roadmap de evolución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539496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555F6E"/>
                </a:solidFill>
                <a:latin typeface="Segoe UI"/>
              </a:defRPr>
            </a:pPr>
            <a:r>
              <a:t>plan estratégico hacia CMMI Nivel 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0" y="6035040"/>
            <a:ext cx="4663440" cy="9144"/>
          </a:xfrm>
          <a:prstGeom prst="rect">
            <a:avLst/>
          </a:prstGeom>
          <a:solidFill>
            <a:srgbClr val="D2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2011680"/>
            <a:ext cx="56692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400" b="1">
                <a:solidFill>
                  <a:srgbClr val="E87722"/>
                </a:solidFill>
                <a:latin typeface="Segoe UI"/>
              </a:defRPr>
            </a:pPr>
            <a:r>
              <a:t>QUÉ SE HACE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377440"/>
            <a:ext cx="56692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0B2F64"/>
                </a:solidFill>
                <a:latin typeface="Segoe UI"/>
              </a:rPr>
              <a:t>▶   </a:t>
            </a:r>
            <a:r>
              <a:rPr sz="1300">
                <a:solidFill>
                  <a:srgbClr val="333333"/>
                </a:solidFill>
                <a:latin typeface="Segoe UI"/>
              </a:rPr>
              <a:t>Institucionalizar los procesos a nivel de toda la organización.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B2F64"/>
                </a:solidFill>
                <a:latin typeface="Segoe UI"/>
              </a:rPr>
              <a:t>▶   </a:t>
            </a:r>
            <a:r>
              <a:rPr sz="1300">
                <a:solidFill>
                  <a:srgbClr val="333333"/>
                </a:solidFill>
                <a:latin typeface="Segoe UI"/>
              </a:rPr>
              <a:t>Analizar datos, tendencias de desempeño e identificar anomalías.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B2F64"/>
                </a:solidFill>
                <a:latin typeface="Segoe UI"/>
              </a:rPr>
              <a:t>▶   </a:t>
            </a:r>
            <a:r>
              <a:rPr sz="1300">
                <a:solidFill>
                  <a:srgbClr val="333333"/>
                </a:solidFill>
                <a:latin typeface="Segoe UI"/>
              </a:rPr>
              <a:t>Promover una cultura activa de mejora continua y autoevaluación.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B2F64"/>
                </a:solidFill>
                <a:latin typeface="Segoe UI"/>
              </a:rPr>
              <a:t>▶   </a:t>
            </a:r>
            <a:r>
              <a:rPr sz="1300">
                <a:solidFill>
                  <a:srgbClr val="333333"/>
                </a:solidFill>
                <a:latin typeface="Segoe UI"/>
              </a:rPr>
              <a:t>Documentar y compartir lecciones aprendidas finales.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B2F64"/>
                </a:solidFill>
                <a:latin typeface="Segoe UI"/>
              </a:rPr>
              <a:t>▶   </a:t>
            </a:r>
            <a:r>
              <a:rPr sz="1300">
                <a:solidFill>
                  <a:srgbClr val="333333"/>
                </a:solidFill>
                <a:latin typeface="Segoe UI"/>
              </a:rPr>
              <a:t>Definir el roadmap de evolución hacia niveles de madurez superiores.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389120"/>
            <a:ext cx="777240" cy="274320"/>
          </a:xfrm>
          <a:prstGeom prst="roundRect">
            <a:avLst/>
          </a:prstGeom>
          <a:solidFill>
            <a:srgbClr val="0B2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CAR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417319" y="4389120"/>
            <a:ext cx="777240" cy="274320"/>
          </a:xfrm>
          <a:prstGeom prst="roundRect">
            <a:avLst/>
          </a:prstGeom>
          <a:solidFill>
            <a:srgbClr val="0B2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MPM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286000" y="4389120"/>
            <a:ext cx="777240" cy="274320"/>
          </a:xfrm>
          <a:prstGeom prst="roundRect">
            <a:avLst/>
          </a:prstGeom>
          <a:solidFill>
            <a:srgbClr val="0B2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PCM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154679" y="4389120"/>
            <a:ext cx="777240" cy="274320"/>
          </a:xfrm>
          <a:prstGeom prst="roundRect">
            <a:avLst/>
          </a:prstGeom>
          <a:solidFill>
            <a:srgbClr val="0B2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PAD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937760"/>
            <a:ext cx="566928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AE6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029200"/>
            <a:ext cx="53035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7AE60"/>
                </a:solidFill>
                <a:latin typeface="Segoe UI"/>
              </a:defRPr>
            </a:pPr>
            <a:r>
              <a:t>📄  ENTREGABLE</a:t>
            </a:r>
          </a:p>
          <a:p>
            <a:pPr>
              <a:defRPr sz="1400" b="1">
                <a:solidFill>
                  <a:srgbClr val="0B2F64"/>
                </a:solidFill>
                <a:latin typeface="Segoe UI"/>
              </a:defRPr>
            </a:pPr>
            <a:r>
              <a:t>Cultura de Excelencia y Roadmap de Futuro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A0AF"/>
                </a:solidFill>
                <a:latin typeface="Segoe UI"/>
              </a:defRPr>
            </a:pPr>
            <a:r>
              <a:t>Fase 7 de 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 i="0">
                <a:solidFill>
                  <a:srgbClr val="E87722"/>
                </a:solidFill>
                <a:latin typeface="Segoe UI"/>
              </a:defRPr>
            </a:pPr>
            <a:r>
              <a:t>PUNTOS CLAVE - FASE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 i="0">
                <a:solidFill>
                  <a:srgbClr val="0B2F64"/>
                </a:solidFill>
                <a:latin typeface="Segoe UI"/>
              </a:defRPr>
            </a:pPr>
            <a:r>
              <a:t>Puntos clave de la Fase 7: Mejora Continua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828800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109728" cy="21945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54864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>
                <a:latin typeface="Segoe UI"/>
              </a:defRPr>
            </a:pPr>
            <a:r>
              <a:t>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828800"/>
            <a:ext cx="40690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B2F64"/>
                </a:solidFill>
                <a:latin typeface="Segoe UI"/>
              </a:defRPr>
            </a:pPr>
            <a:r>
              <a:t>NÚMEROS CLAVE</a:t>
            </a:r>
          </a:p>
          <a:p>
            <a:pPr>
              <a:spcAft>
                <a:spcPts val="200"/>
              </a:spcAft>
              <a:defRPr sz="1100">
                <a:solidFill>
                  <a:srgbClr val="555F6E"/>
                </a:solidFill>
                <a:latin typeface="Segoe UI"/>
              </a:defRPr>
            </a:pPr>
            <a:r>
              <a:t>- 1 roadmap de evolución futura.</a:t>
            </a:r>
          </a:p>
          <a:p>
            <a:pPr>
              <a:spcAft>
                <a:spcPts val="200"/>
              </a:spcAft>
              <a:defRPr sz="1100">
                <a:solidFill>
                  <a:srgbClr val="555F6E"/>
                </a:solidFill>
                <a:latin typeface="Segoe UI"/>
              </a:defRPr>
            </a:pPr>
            <a:r>
              <a:t>- Seguimiento periódico de KPIs.</a:t>
            </a:r>
          </a:p>
          <a:p>
            <a:pPr>
              <a:spcAft>
                <a:spcPts val="200"/>
              </a:spcAft>
              <a:defRPr sz="1100">
                <a:solidFill>
                  <a:srgbClr val="555F6E"/>
                </a:solidFill>
                <a:latin typeface="Segoe UI"/>
              </a:defRPr>
            </a:pPr>
            <a:r>
              <a:t>- Actualización continua de la Base de Conocimientos.</a:t>
            </a:r>
          </a:p>
          <a:p>
            <a:pPr>
              <a:spcAft>
                <a:spcPts val="200"/>
              </a:spcAft>
              <a:defRPr sz="1100">
                <a:solidFill>
                  <a:srgbClr val="555F6E"/>
                </a:solidFill>
                <a:latin typeface="Segoe UI"/>
              </a:defRPr>
            </a:pPr>
            <a:r>
              <a:t>- Proyección hacia mayores niveles de madurez CMMI.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645920"/>
            <a:ext cx="109728" cy="2194560"/>
          </a:xfrm>
          <a:prstGeom prst="rect">
            <a:avLst/>
          </a:prstGeom>
          <a:solidFill>
            <a:srgbClr val="0B2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828800"/>
            <a:ext cx="54864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>
                <a:latin typeface="Segoe UI"/>
              </a:defRPr>
            </a:pPr>
            <a:r>
              <a:t>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1828800"/>
            <a:ext cx="40690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B2F64"/>
                </a:solidFill>
                <a:latin typeface="Segoe UI"/>
              </a:defRPr>
            </a:pPr>
            <a:r>
              <a:t>PUNTOS MÁS RELEVANTES</a:t>
            </a:r>
          </a:p>
          <a:p>
            <a:pPr>
              <a:spcAft>
                <a:spcPts val="200"/>
              </a:spcAft>
              <a:defRPr sz="1100">
                <a:solidFill>
                  <a:srgbClr val="555F6E"/>
                </a:solidFill>
                <a:latin typeface="Segoe UI"/>
              </a:defRPr>
            </a:pPr>
            <a:r>
              <a:t>- Se institucionalizan los procesos.</a:t>
            </a:r>
          </a:p>
          <a:p>
            <a:pPr>
              <a:spcAft>
                <a:spcPts val="200"/>
              </a:spcAft>
              <a:defRPr sz="1100">
                <a:solidFill>
                  <a:srgbClr val="555F6E"/>
                </a:solidFill>
                <a:latin typeface="Segoe UI"/>
              </a:defRPr>
            </a:pPr>
            <a:r>
              <a:t>- Se analizan tendencias de desempeño.</a:t>
            </a:r>
          </a:p>
          <a:p>
            <a:pPr>
              <a:spcAft>
                <a:spcPts val="200"/>
              </a:spcAft>
              <a:defRPr sz="1100">
                <a:solidFill>
                  <a:srgbClr val="555F6E"/>
                </a:solidFill>
                <a:latin typeface="Segoe UI"/>
              </a:defRPr>
            </a:pPr>
            <a:r>
              <a:t>- Se documentan lecciones aprendidas.</a:t>
            </a:r>
          </a:p>
          <a:p>
            <a:pPr>
              <a:spcAft>
                <a:spcPts val="200"/>
              </a:spcAft>
              <a:defRPr sz="1100">
                <a:solidFill>
                  <a:srgbClr val="555F6E"/>
                </a:solidFill>
                <a:latin typeface="Segoe UI"/>
              </a:defRPr>
            </a:pPr>
            <a:r>
              <a:t>- Se establece una cultura de mejora continua.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1480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114800"/>
            <a:ext cx="109728" cy="2194560"/>
          </a:xfrm>
          <a:prstGeom prst="rect">
            <a:avLst/>
          </a:prstGeom>
          <a:solidFill>
            <a:srgbClr val="0B2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297680"/>
            <a:ext cx="54864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>
                <a:latin typeface="Segoe UI"/>
              </a:defRPr>
            </a:pPr>
            <a:r>
              <a:t>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4297680"/>
            <a:ext cx="40690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B2F64"/>
                </a:solidFill>
                <a:latin typeface="Segoe UI"/>
              </a:defRPr>
            </a:pPr>
            <a:r>
              <a:t>IMPACTO EN IVVI S.A.</a:t>
            </a:r>
          </a:p>
          <a:p>
            <a:pPr>
              <a:spcAft>
                <a:spcPts val="200"/>
              </a:spcAft>
              <a:defRPr sz="1100">
                <a:solidFill>
                  <a:srgbClr val="555F6E"/>
                </a:solidFill>
                <a:latin typeface="Segoe UI"/>
              </a:defRPr>
            </a:pPr>
            <a:r>
              <a:t>Convierte la mejora de procesos en una práctica permanente, no en una actividad temporal.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411480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4114800"/>
            <a:ext cx="109728" cy="21945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4297680"/>
            <a:ext cx="54864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>
                <a:latin typeface="Segoe UI"/>
              </a:defRPr>
            </a:pPr>
            <a:r>
              <a:t>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4297680"/>
            <a:ext cx="40690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B2F64"/>
                </a:solidFill>
                <a:latin typeface="Segoe UI"/>
              </a:defRPr>
            </a:pPr>
            <a:r>
              <a:t>CONEXIÓN CON LA SIGUIENTE FASE</a:t>
            </a:r>
          </a:p>
          <a:p>
            <a:pPr>
              <a:spcAft>
                <a:spcPts val="200"/>
              </a:spcAft>
              <a:defRPr sz="1100">
                <a:solidFill>
                  <a:srgbClr val="555F6E"/>
                </a:solidFill>
                <a:latin typeface="Segoe UI"/>
              </a:defRPr>
            </a:pPr>
            <a:r>
              <a:t>Al ser la fase final, conecta con un nuevo ciclo de diagnóstico, ajuste y evolución hacia mayor madurez organizacional.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64922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 i="0">
                <a:solidFill>
                  <a:srgbClr val="555F6E"/>
                </a:solidFill>
                <a:latin typeface="Segoe UI"/>
              </a:defRPr>
            </a:pPr>
            <a:r>
              <a:t>Fase 7 de 7 - Puntos Clave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 i="0">
                <a:solidFill>
                  <a:srgbClr val="E87722"/>
                </a:solidFill>
                <a:latin typeface="Segoe UI"/>
              </a:defRPr>
            </a:pPr>
            <a:r>
              <a:t>RESUMEN EJECUTIVO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 i="0">
                <a:solidFill>
                  <a:srgbClr val="0B2F64"/>
                </a:solidFill>
                <a:latin typeface="Segoe UI"/>
              </a:defRPr>
            </a:pPr>
            <a:r>
              <a:t>Resumen de números clave del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828800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73152" cy="1828800"/>
          </a:xfrm>
          <a:prstGeom prst="rect">
            <a:avLst/>
          </a:prstGeom>
          <a:solidFill>
            <a:srgbClr val="0B2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755648"/>
            <a:ext cx="3657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Segoe UI"/>
              </a:defRPr>
            </a:pPr>
            <a:r>
              <a:t>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755648"/>
            <a:ext cx="2606040" cy="1609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B2F64"/>
                </a:solidFill>
                <a:latin typeface="Segoe UI"/>
              </a:defRPr>
            </a:pPr>
            <a:r>
              <a:t>FASES Y PROCESOS</a:t>
            </a:r>
          </a:p>
          <a:p>
            <a:pPr>
              <a:spcAft>
                <a:spcPts val="100"/>
              </a:spcAft>
              <a:defRPr sz="950">
                <a:solidFill>
                  <a:srgbClr val="555F6E"/>
                </a:solidFill>
                <a:latin typeface="Segoe UI"/>
              </a:defRPr>
            </a:pPr>
            <a:r>
              <a:t>7 fases metodológicas estructuradas.</a:t>
            </a:r>
          </a:p>
          <a:p>
            <a:pPr>
              <a:spcAft>
                <a:spcPts val="100"/>
              </a:spcAft>
              <a:defRPr sz="950">
                <a:solidFill>
                  <a:srgbClr val="555F6E"/>
                </a:solidFill>
                <a:latin typeface="Segoe UI"/>
              </a:defRPr>
            </a:pPr>
            <a:r>
              <a:t>7 procesos críticos diagnosticados.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2918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645920"/>
            <a:ext cx="73152" cy="182880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755648"/>
            <a:ext cx="3657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Segoe UI"/>
              </a:defRPr>
            </a:pPr>
            <a:r>
              <a:t>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1755648"/>
            <a:ext cx="2606040" cy="1609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B2F64"/>
                </a:solidFill>
                <a:latin typeface="Segoe UI"/>
              </a:defRPr>
            </a:pPr>
            <a:r>
              <a:t>MADUREZ Y ÁREAS</a:t>
            </a:r>
          </a:p>
          <a:p>
            <a:pPr>
              <a:spcAft>
                <a:spcPts val="100"/>
              </a:spcAft>
              <a:defRPr sz="950">
                <a:solidFill>
                  <a:srgbClr val="555F6E"/>
                </a:solidFill>
                <a:latin typeface="Segoe UI"/>
              </a:defRPr>
            </a:pPr>
            <a:r>
              <a:t>8 brechas de madurez consideradas.</a:t>
            </a:r>
          </a:p>
          <a:p>
            <a:pPr>
              <a:spcAft>
                <a:spcPts val="100"/>
              </a:spcAft>
              <a:defRPr sz="950">
                <a:solidFill>
                  <a:srgbClr val="555F6E"/>
                </a:solidFill>
                <a:latin typeface="Segoe UI"/>
              </a:defRPr>
            </a:pPr>
            <a:r>
              <a:t>6 áreas operativas intervenidas.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45920"/>
            <a:ext cx="32918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645920"/>
            <a:ext cx="73152" cy="182880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2" y="1755648"/>
            <a:ext cx="3657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Segoe UI"/>
              </a:defRPr>
            </a:pPr>
            <a:r>
              <a:t>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1755648"/>
            <a:ext cx="2606040" cy="1609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B2F64"/>
                </a:solidFill>
                <a:latin typeface="Segoe UI"/>
              </a:defRPr>
            </a:pPr>
            <a:r>
              <a:t>FORMACIÓN Y PILOTOS</a:t>
            </a:r>
          </a:p>
          <a:p>
            <a:pPr>
              <a:spcAft>
                <a:spcPts val="100"/>
              </a:spcAft>
              <a:defRPr sz="950">
                <a:solidFill>
                  <a:srgbClr val="555F6E"/>
                </a:solidFill>
                <a:latin typeface="Segoe UI"/>
              </a:defRPr>
            </a:pPr>
            <a:r>
              <a:t>3 sesiones principales de capacitación.</a:t>
            </a:r>
          </a:p>
          <a:p>
            <a:pPr>
              <a:spcAft>
                <a:spcPts val="100"/>
              </a:spcAft>
              <a:defRPr sz="950">
                <a:solidFill>
                  <a:srgbClr val="555F6E"/>
                </a:solidFill>
                <a:latin typeface="Segoe UI"/>
              </a:defRPr>
            </a:pPr>
            <a:r>
              <a:t>4 pilotos (14 semanas de piloto gradual).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749039"/>
            <a:ext cx="32918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749039"/>
            <a:ext cx="73152" cy="1828800"/>
          </a:xfrm>
          <a:prstGeom prst="rect">
            <a:avLst/>
          </a:prstGeom>
          <a:solidFill>
            <a:srgbClr val="0B2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3858767"/>
            <a:ext cx="3657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Segoe UI"/>
              </a:defRPr>
            </a:pPr>
            <a:r>
              <a:t>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858767"/>
            <a:ext cx="2606040" cy="1609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B2F64"/>
                </a:solidFill>
                <a:latin typeface="Segoe UI"/>
              </a:defRPr>
            </a:pPr>
            <a:r>
              <a:t>REDUCCIÓN DE INVENTARIO</a:t>
            </a:r>
          </a:p>
          <a:p>
            <a:pPr>
              <a:spcAft>
                <a:spcPts val="100"/>
              </a:spcAft>
              <a:defRPr sz="950">
                <a:solidFill>
                  <a:srgbClr val="555F6E"/>
                </a:solidFill>
                <a:latin typeface="Segoe UI"/>
              </a:defRPr>
            </a:pPr>
            <a:r>
              <a:t>Inventario: 60% de reducción de inconsistencias.</a:t>
            </a:r>
          </a:p>
          <a:p>
            <a:pPr>
              <a:spcAft>
                <a:spcPts val="100"/>
              </a:spcAft>
              <a:defRPr sz="950">
                <a:solidFill>
                  <a:srgbClr val="555F6E"/>
                </a:solidFill>
                <a:latin typeface="Segoe UI"/>
              </a:defRPr>
            </a:pPr>
            <a:r>
              <a:t>Quiebres de stock: 50% de reducción estimada.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749039"/>
            <a:ext cx="32918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89120" y="3749039"/>
            <a:ext cx="73152" cy="1828800"/>
          </a:xfrm>
          <a:prstGeom prst="rect">
            <a:avLst/>
          </a:prstGeom>
          <a:solidFill>
            <a:srgbClr val="0B2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53712" y="3858767"/>
            <a:ext cx="3657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Segoe UI"/>
              </a:defRPr>
            </a:pPr>
            <a:r>
              <a:t>⏱️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80" y="3858767"/>
            <a:ext cx="2606040" cy="1609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B2F64"/>
                </a:solidFill>
                <a:latin typeface="Segoe UI"/>
              </a:defRPr>
            </a:pPr>
            <a:r>
              <a:t>EFICIENCIA OPERATIVA</a:t>
            </a:r>
          </a:p>
          <a:p>
            <a:pPr>
              <a:spcAft>
                <a:spcPts val="100"/>
              </a:spcAft>
              <a:defRPr sz="950">
                <a:solidFill>
                  <a:srgbClr val="555F6E"/>
                </a:solidFill>
                <a:latin typeface="Segoe UI"/>
              </a:defRPr>
            </a:pPr>
            <a:r>
              <a:t>Ciclo de OC: 20% de reducción de tiempo.</a:t>
            </a:r>
          </a:p>
          <a:p>
            <a:pPr>
              <a:spcAft>
                <a:spcPts val="100"/>
              </a:spcAft>
              <a:defRPr sz="950">
                <a:solidFill>
                  <a:srgbClr val="555F6E"/>
                </a:solidFill>
                <a:latin typeface="Segoe UI"/>
              </a:defRPr>
            </a:pPr>
            <a:r>
              <a:t>Mermas: 60% de reducción de merma.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3749039"/>
            <a:ext cx="32918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0" y="3749039"/>
            <a:ext cx="73152" cy="182880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11312" y="3858767"/>
            <a:ext cx="3657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Segoe UI"/>
              </a:defRPr>
            </a:pPr>
            <a:r>
              <a:t>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41080" y="3858767"/>
            <a:ext cx="2606040" cy="1609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B2F64"/>
                </a:solidFill>
                <a:latin typeface="Segoe UI"/>
              </a:defRPr>
            </a:pPr>
            <a:r>
              <a:t>SATISFACCIÓN DE CLIENTE</a:t>
            </a:r>
          </a:p>
          <a:p>
            <a:pPr>
              <a:spcAft>
                <a:spcPts val="100"/>
              </a:spcAft>
              <a:defRPr sz="950">
                <a:solidFill>
                  <a:srgbClr val="555F6E"/>
                </a:solidFill>
                <a:latin typeface="Segoe UI"/>
              </a:defRPr>
            </a:pPr>
            <a:r>
              <a:t>Mejora estimada: +10% de incremento en la satisfacción del cliente.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5760720"/>
            <a:ext cx="9445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1">
                <a:solidFill>
                  <a:srgbClr val="0B2F64"/>
                </a:solidFill>
                <a:latin typeface="Segoe UI"/>
              </a:defRPr>
            </a:pPr>
            <a:r>
              <a:t>Estos números evidencian que la propuesta no solo describe actividades, sino que define una ruta medible para mejorar la gestión de procesos de IVVI S.A.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64922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 i="0">
                <a:solidFill>
                  <a:srgbClr val="555F6E"/>
                </a:solidFill>
                <a:latin typeface="Segoe UI"/>
              </a:defRPr>
            </a:pPr>
            <a:r>
              <a:t>Resumen del Plan Maestro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F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4114800"/>
            <a:ext cx="3657600" cy="3657600"/>
          </a:xfrm>
          <a:prstGeom prst="ellipse">
            <a:avLst/>
          </a:prstGeom>
          <a:solidFill>
            <a:srgbClr val="16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914400"/>
            <a:ext cx="3657600" cy="3657600"/>
          </a:xfrm>
          <a:prstGeom prst="ellipse">
            <a:avLst/>
          </a:prstGeom>
          <a:solidFill>
            <a:srgbClr val="16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Conclusión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4484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800">
                <a:solidFill>
                  <a:srgbClr val="FFFFFF"/>
                </a:solidFill>
                <a:latin typeface="Segoe UI"/>
              </a:defRPr>
            </a:pPr>
            <a:r>
              <a:t>La aplicación del modelo CMMI V3.0 en Inversiones IVVI S.A. permite fortalecer la gestión por procesos, documentar actividades críticas, definir indicadores de desempeño y establecer una ruta metodológica ordenada para apoyar el desarrollo del Sistema Web Integral de Gestión Empresarial.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847" y="4206240"/>
            <a:ext cx="9144000" cy="1005840"/>
          </a:xfrm>
          <a:prstGeom prst="round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Antes de automatizar procesos, es necesario comprenderlos, documentarlos, medirlos y mejorarlos.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943600"/>
            <a:ext cx="94484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DAE6F5"/>
                </a:solidFill>
                <a:latin typeface="Segoe UI"/>
              </a:defRPr>
            </a:pPr>
            <a:r>
              <a:t>CMMI® V3.0 · © 2026 IVVI S.A. · material explicativo académico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