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1675"/>
  <p:notesSz cx="6858000" cy="12191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gPxCQE+8nGrjtJioIQxqxmGL+M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" name="Google Shape;5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f19e8fe72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g3f19e8fe72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7" name="Google Shape;267;g3f19e8fe727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2" name="Google Shape;27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8" name="Google Shape;32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3A6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572000" y="685800"/>
            <a:ext cx="3044952" cy="73152"/>
          </a:xfrm>
          <a:prstGeom prst="rect">
            <a:avLst/>
          </a:prstGeom>
          <a:solidFill>
            <a:srgbClr val="E5822A"/>
          </a:solidFill>
          <a:ln cap="flat" cmpd="sng" w="12700">
            <a:solidFill>
              <a:srgbClr val="E582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docx_unzip/word/media/image1.png" id="17" name="Google Shape;17;p1"/>
          <p:cNvPicPr preferRelativeResize="0"/>
          <p:nvPr/>
        </p:nvPicPr>
        <p:blipFill rotWithShape="1">
          <a:blip r:embed="rId3">
            <a:alphaModFix amt="98000"/>
          </a:blip>
          <a:srcRect b="0" l="0" r="0" t="0"/>
          <a:stretch/>
        </p:blipFill>
        <p:spPr>
          <a:xfrm>
            <a:off x="502920" y="384048"/>
            <a:ext cx="1143000" cy="667512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 txBox="1"/>
          <p:nvPr/>
        </p:nvSpPr>
        <p:spPr>
          <a:xfrm>
            <a:off x="2834640" y="2029968"/>
            <a:ext cx="6583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 Ruta Metodológica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2240280" y="2523744"/>
            <a:ext cx="77724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CMMI V3.0 · Proyecto </a:t>
            </a:r>
            <a:r>
              <a:rPr b="1" lang="en-US" sz="3200">
                <a:solidFill>
                  <a:srgbClr val="FFFFFF"/>
                </a:solidFill>
              </a:rPr>
              <a:t>MedicalSys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2103120" y="3182112"/>
            <a:ext cx="8001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E2F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D8E2F0"/>
                </a:solidFill>
                <a:latin typeface="Arial"/>
                <a:ea typeface="Arial"/>
                <a:cs typeface="Arial"/>
                <a:sym typeface="Arial"/>
              </a:rPr>
              <a:t>Sistema Web para el control </a:t>
            </a:r>
            <a:r>
              <a:rPr lang="en-US">
                <a:solidFill>
                  <a:srgbClr val="D8E2F0"/>
                </a:solidFill>
              </a:rPr>
              <a:t>de citas médicas en el centro MedicalSys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773168" y="3730752"/>
            <a:ext cx="2651760" cy="320040"/>
          </a:xfrm>
          <a:prstGeom prst="roundRect">
            <a:avLst>
              <a:gd fmla="val 22857" name="adj"/>
            </a:avLst>
          </a:prstGeom>
          <a:solidFill>
            <a:srgbClr val="E5822A"/>
          </a:solidFill>
          <a:ln cap="flat" cmpd="sng" w="12700">
            <a:solidFill>
              <a:srgbClr val="E582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 txBox="1"/>
          <p:nvPr/>
        </p:nvSpPr>
        <p:spPr>
          <a:xfrm>
            <a:off x="4937760" y="3803904"/>
            <a:ext cx="2331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Basado en CMMI® V3.0 - Nivel 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 txBox="1"/>
          <p:nvPr/>
        </p:nvSpPr>
        <p:spPr>
          <a:xfrm>
            <a:off x="3657600" y="6355080"/>
            <a:ext cx="487375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CADC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B8CADC"/>
                </a:solidFill>
                <a:latin typeface="Arial"/>
                <a:ea typeface="Arial"/>
                <a:cs typeface="Arial"/>
                <a:sym typeface="Arial"/>
              </a:rPr>
              <a:t>Ingeniería de Software 2 · Grupo 5S1-COM-S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 txBox="1"/>
          <p:nvPr/>
        </p:nvSpPr>
        <p:spPr>
          <a:xfrm>
            <a:off x="658368" y="475488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822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5822A"/>
                </a:solidFill>
                <a:latin typeface="Arial"/>
                <a:ea typeface="Arial"/>
                <a:cs typeface="Arial"/>
                <a:sym typeface="Arial"/>
              </a:rPr>
              <a:t>ANTES DE EMPEZAR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2"/>
          <p:cNvSpPr txBox="1"/>
          <p:nvPr/>
        </p:nvSpPr>
        <p:spPr>
          <a:xfrm>
            <a:off x="658368" y="768096"/>
            <a:ext cx="7223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B49"/>
              </a:buClr>
              <a:buSzPts val="3100"/>
              <a:buFont typeface="Arial"/>
              <a:buNone/>
            </a:pPr>
            <a:r>
              <a:rPr b="1" i="0" lang="en-US" sz="3100" u="none" cap="none" strike="noStrike">
                <a:solidFill>
                  <a:srgbClr val="0F2B49"/>
                </a:solidFill>
                <a:latin typeface="Arial"/>
                <a:ea typeface="Arial"/>
                <a:cs typeface="Arial"/>
                <a:sym typeface="Arial"/>
              </a:rPr>
              <a:t>Conceptos base del modelo</a:t>
            </a:r>
            <a:endParaRPr b="0" i="0" sz="3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658368" y="1417320"/>
            <a:ext cx="859536" cy="73152"/>
          </a:xfrm>
          <a:prstGeom prst="roundRect">
            <a:avLst>
              <a:gd fmla="val 50000" name="adj"/>
            </a:avLst>
          </a:prstGeom>
          <a:solidFill>
            <a:srgbClr val="E5822A"/>
          </a:solidFill>
          <a:ln cap="flat" cmpd="sng" w="12700">
            <a:solidFill>
              <a:srgbClr val="E582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658368" y="1874520"/>
            <a:ext cx="5303520" cy="1691640"/>
          </a:xfrm>
          <a:prstGeom prst="roundRect">
            <a:avLst>
              <a:gd fmla="val 6486" name="adj"/>
            </a:avLst>
          </a:prstGeom>
          <a:solidFill>
            <a:srgbClr val="FFFFFF"/>
          </a:solidFill>
          <a:ln cap="flat" cmpd="sng" w="12700">
            <a:solidFill>
              <a:srgbClr val="D8E1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658368" y="1874520"/>
            <a:ext cx="73152" cy="1691640"/>
          </a:xfrm>
          <a:prstGeom prst="rect">
            <a:avLst/>
          </a:prstGeom>
          <a:solidFill>
            <a:srgbClr val="245A91"/>
          </a:solidFill>
          <a:ln cap="flat" cmpd="sng" w="12700">
            <a:solidFill>
              <a:srgbClr val="245A9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978408" y="2075688"/>
            <a:ext cx="594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B49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F2B49"/>
                </a:solidFill>
                <a:latin typeface="Arial"/>
                <a:ea typeface="Arial"/>
                <a:cs typeface="Arial"/>
                <a:sym typeface="Arial"/>
              </a:rPr>
              <a:t>🪟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978408" y="2770632"/>
            <a:ext cx="4480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A6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53A63"/>
                </a:solidFill>
                <a:latin typeface="Arial"/>
                <a:ea typeface="Arial"/>
                <a:cs typeface="Arial"/>
                <a:sym typeface="Arial"/>
              </a:rPr>
              <a:t>Vista &amp; Dominio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 txBox="1"/>
          <p:nvPr/>
        </p:nvSpPr>
        <p:spPr>
          <a:xfrm>
            <a:off x="978408" y="3118104"/>
            <a:ext cx="4617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86B"/>
              </a:buClr>
              <a:buSzPts val="1180"/>
              <a:buFont typeface="Arial"/>
              <a:buNone/>
            </a:pPr>
            <a:r>
              <a:rPr b="0" i="0" lang="en-US" sz="1180" u="none" cap="none" strike="noStrike">
                <a:solidFill>
                  <a:srgbClr val="4A586B"/>
                </a:solidFill>
                <a:latin typeface="Arial"/>
                <a:ea typeface="Arial"/>
                <a:cs typeface="Arial"/>
                <a:sym typeface="Arial"/>
              </a:rPr>
              <a:t>Ventana para enfocar lo importante: DEV, SVC, PPL y áreas clave de mejora.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236208" y="1874520"/>
            <a:ext cx="5303520" cy="1691640"/>
          </a:xfrm>
          <a:prstGeom prst="roundRect">
            <a:avLst>
              <a:gd fmla="val 6486" name="adj"/>
            </a:avLst>
          </a:prstGeom>
          <a:solidFill>
            <a:srgbClr val="FFFFFF"/>
          </a:solidFill>
          <a:ln cap="flat" cmpd="sng" w="12700">
            <a:solidFill>
              <a:srgbClr val="D8E1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6236208" y="1874520"/>
            <a:ext cx="73152" cy="1691640"/>
          </a:xfrm>
          <a:prstGeom prst="rect">
            <a:avLst/>
          </a:prstGeom>
          <a:solidFill>
            <a:srgbClr val="E5822A"/>
          </a:solidFill>
          <a:ln cap="flat" cmpd="sng" w="12700">
            <a:solidFill>
              <a:srgbClr val="E582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 txBox="1"/>
          <p:nvPr/>
        </p:nvSpPr>
        <p:spPr>
          <a:xfrm>
            <a:off x="6556248" y="2075688"/>
            <a:ext cx="594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B49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F2B49"/>
                </a:solidFill>
                <a:latin typeface="Arial"/>
                <a:ea typeface="Arial"/>
                <a:cs typeface="Arial"/>
                <a:sym typeface="Arial"/>
              </a:rPr>
              <a:t>🧩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 txBox="1"/>
          <p:nvPr/>
        </p:nvSpPr>
        <p:spPr>
          <a:xfrm>
            <a:off x="6556248" y="2770632"/>
            <a:ext cx="4480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A6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53A63"/>
                </a:solidFill>
                <a:latin typeface="Arial"/>
                <a:ea typeface="Arial"/>
                <a:cs typeface="Arial"/>
                <a:sym typeface="Arial"/>
              </a:rPr>
              <a:t>Áreas de Práctica (PA)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 txBox="1"/>
          <p:nvPr/>
        </p:nvSpPr>
        <p:spPr>
          <a:xfrm>
            <a:off x="6556248" y="3118104"/>
            <a:ext cx="4617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86B"/>
              </a:buClr>
              <a:buSzPts val="1180"/>
              <a:buFont typeface="Arial"/>
              <a:buNone/>
            </a:pPr>
            <a:r>
              <a:rPr lang="en-US" sz="1180">
                <a:solidFill>
                  <a:srgbClr val="4A586B"/>
                </a:solidFill>
              </a:rPr>
              <a:t>Conjunto de prácticas con intención, valor de negocio y evidencia objetiva.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658368" y="4160520"/>
            <a:ext cx="5303520" cy="1691640"/>
          </a:xfrm>
          <a:prstGeom prst="roundRect">
            <a:avLst>
              <a:gd fmla="val 6486" name="adj"/>
            </a:avLst>
          </a:prstGeom>
          <a:solidFill>
            <a:srgbClr val="FFFFFF"/>
          </a:solidFill>
          <a:ln cap="flat" cmpd="sng" w="12700">
            <a:solidFill>
              <a:srgbClr val="D8E1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58368" y="4160520"/>
            <a:ext cx="73152" cy="1691640"/>
          </a:xfrm>
          <a:prstGeom prst="rect">
            <a:avLst/>
          </a:prstGeom>
          <a:solidFill>
            <a:srgbClr val="E5822A"/>
          </a:solidFill>
          <a:ln cap="flat" cmpd="sng" w="12700">
            <a:solidFill>
              <a:srgbClr val="E582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 txBox="1"/>
          <p:nvPr/>
        </p:nvSpPr>
        <p:spPr>
          <a:xfrm>
            <a:off x="978408" y="4361688"/>
            <a:ext cx="594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B49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F2B49"/>
                </a:solidFill>
                <a:latin typeface="Arial"/>
                <a:ea typeface="Arial"/>
                <a:cs typeface="Arial"/>
                <a:sym typeface="Arial"/>
              </a:rPr>
              <a:t>🔀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 txBox="1"/>
          <p:nvPr/>
        </p:nvSpPr>
        <p:spPr>
          <a:xfrm>
            <a:off x="978408" y="5056632"/>
            <a:ext cx="4480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A6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53A63"/>
                </a:solidFill>
                <a:latin typeface="Arial"/>
                <a:ea typeface="Arial"/>
                <a:cs typeface="Arial"/>
                <a:sym typeface="Arial"/>
              </a:rPr>
              <a:t>4 Categorías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 txBox="1"/>
          <p:nvPr/>
        </p:nvSpPr>
        <p:spPr>
          <a:xfrm>
            <a:off x="978408" y="5404104"/>
            <a:ext cx="4617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86B"/>
              </a:buClr>
              <a:buSzPts val="1180"/>
              <a:buFont typeface="Arial"/>
              <a:buNone/>
            </a:pPr>
            <a:r>
              <a:rPr b="0" i="0" lang="en-US" sz="1180" u="none" cap="none" strike="noStrike">
                <a:solidFill>
                  <a:srgbClr val="4A586B"/>
                </a:solidFill>
                <a:latin typeface="Arial"/>
                <a:ea typeface="Arial"/>
                <a:cs typeface="Arial"/>
                <a:sym typeface="Arial"/>
              </a:rPr>
              <a:t>Doing · Managing · Enabling · Improving: camino natural de mejora.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6236208" y="4160520"/>
            <a:ext cx="5303520" cy="1691640"/>
          </a:xfrm>
          <a:prstGeom prst="roundRect">
            <a:avLst>
              <a:gd fmla="val 6486" name="adj"/>
            </a:avLst>
          </a:prstGeom>
          <a:solidFill>
            <a:srgbClr val="FFFFFF"/>
          </a:solidFill>
          <a:ln cap="flat" cmpd="sng" w="12700">
            <a:solidFill>
              <a:srgbClr val="D8E1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6236208" y="4160520"/>
            <a:ext cx="73152" cy="1691640"/>
          </a:xfrm>
          <a:prstGeom prst="rect">
            <a:avLst/>
          </a:prstGeom>
          <a:solidFill>
            <a:srgbClr val="245A91"/>
          </a:solidFill>
          <a:ln cap="flat" cmpd="sng" w="12700">
            <a:solidFill>
              <a:srgbClr val="245A9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 txBox="1"/>
          <p:nvPr/>
        </p:nvSpPr>
        <p:spPr>
          <a:xfrm>
            <a:off x="6556248" y="4361688"/>
            <a:ext cx="594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B49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F2B49"/>
                </a:solidFill>
                <a:latin typeface="Arial"/>
                <a:ea typeface="Arial"/>
                <a:cs typeface="Arial"/>
                <a:sym typeface="Arial"/>
              </a:rPr>
              <a:t>📊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 txBox="1"/>
          <p:nvPr/>
        </p:nvSpPr>
        <p:spPr>
          <a:xfrm>
            <a:off x="6556248" y="5056632"/>
            <a:ext cx="4480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A6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53A63"/>
                </a:solidFill>
                <a:latin typeface="Arial"/>
                <a:ea typeface="Arial"/>
                <a:cs typeface="Arial"/>
                <a:sym typeface="Arial"/>
              </a:rPr>
              <a:t>Nivel de Madurez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 txBox="1"/>
          <p:nvPr/>
        </p:nvSpPr>
        <p:spPr>
          <a:xfrm>
            <a:off x="6556248" y="5404104"/>
            <a:ext cx="4617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586B"/>
              </a:buClr>
              <a:buSzPts val="384"/>
              <a:buFont typeface="Arial"/>
              <a:buNone/>
            </a:pPr>
            <a:r>
              <a:rPr lang="en-US" sz="1100">
                <a:solidFill>
                  <a:srgbClr val="4A586B"/>
                </a:solidFill>
              </a:rPr>
              <a:t>Nivel 2 (Gestionado). Meta crítica para escalar MedicalSys sin depender</a:t>
            </a:r>
            <a:endParaRPr sz="1100">
              <a:solidFill>
                <a:srgbClr val="4A586B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586B"/>
              </a:buClr>
              <a:buSzPts val="384"/>
              <a:buFont typeface="Arial"/>
              <a:buNone/>
            </a:pPr>
            <a:r>
              <a:rPr lang="en-US" sz="1100">
                <a:solidFill>
                  <a:srgbClr val="4A586B"/>
                </a:solidFill>
              </a:rPr>
              <a:t>exclusivamente del conocimiento empírico de sus 3 desarrolladores.</a:t>
            </a:r>
            <a:endParaRPr sz="1100">
              <a:solidFill>
                <a:srgbClr val="4A586B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586B"/>
              </a:buClr>
              <a:buSzPts val="384"/>
              <a:buFont typeface="Arial"/>
              <a:buNone/>
            </a:pPr>
            <a:r>
              <a:t/>
            </a:r>
            <a:endParaRPr sz="1100">
              <a:solidFill>
                <a:srgbClr val="4A586B"/>
              </a:solidFill>
            </a:endParaRPr>
          </a:p>
        </p:txBody>
      </p:sp>
      <p:sp>
        <p:nvSpPr>
          <p:cNvPr id="52" name="Google Shape;52;p2"/>
          <p:cNvSpPr txBox="1"/>
          <p:nvPr/>
        </p:nvSpPr>
        <p:spPr>
          <a:xfrm>
            <a:off x="9326880" y="6510528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B5C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6B5C5"/>
                </a:solidFill>
                <a:latin typeface="Arial"/>
                <a:ea typeface="Arial"/>
                <a:cs typeface="Arial"/>
                <a:sym typeface="Arial"/>
              </a:rPr>
              <a:t>CMMI Performance Solutions V3.0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"/>
          <p:cNvSpPr/>
          <p:nvPr/>
        </p:nvSpPr>
        <p:spPr>
          <a:xfrm>
            <a:off x="0" y="0"/>
            <a:ext cx="12191695" cy="1737360"/>
          </a:xfrm>
          <a:prstGeom prst="rect">
            <a:avLst/>
          </a:prstGeom>
          <a:solidFill>
            <a:srgbClr val="153A63"/>
          </a:solidFill>
          <a:ln cap="flat" cmpd="sng" w="12700">
            <a:solidFill>
              <a:srgbClr val="153A6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"/>
          <p:cNvSpPr txBox="1"/>
          <p:nvPr/>
        </p:nvSpPr>
        <p:spPr>
          <a:xfrm>
            <a:off x="621792" y="164592"/>
            <a:ext cx="82296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C6D8"/>
              </a:buClr>
              <a:buSzPts val="7000"/>
              <a:buFont typeface="Arial"/>
              <a:buNone/>
            </a:pPr>
            <a:r>
              <a:rPr b="1" i="0" lang="en-US" sz="7000" u="none" cap="none" strike="noStrike">
                <a:solidFill>
                  <a:srgbClr val="B9C6D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7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"/>
          <p:cNvSpPr txBox="1"/>
          <p:nvPr/>
        </p:nvSpPr>
        <p:spPr>
          <a:xfrm>
            <a:off x="1691640" y="457200"/>
            <a:ext cx="731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🔍</a:t>
            </a:r>
            <a:endParaRPr b="0" i="0" sz="3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"/>
          <p:cNvSpPr txBox="1"/>
          <p:nvPr/>
        </p:nvSpPr>
        <p:spPr>
          <a:xfrm>
            <a:off x="2926080" y="658368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C9A1"/>
              </a:buClr>
              <a:buSzPts val="1120"/>
              <a:buFont typeface="Arial"/>
              <a:buNone/>
            </a:pPr>
            <a:r>
              <a:rPr b="1" i="0" lang="en-US" sz="1120" u="none" cap="none" strike="noStrike">
                <a:solidFill>
                  <a:srgbClr val="F4C9A1"/>
                </a:solidFill>
                <a:latin typeface="Arial"/>
                <a:ea typeface="Arial"/>
                <a:cs typeface="Arial"/>
                <a:sym typeface="Arial"/>
              </a:rPr>
              <a:t>I N I C I O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"/>
          <p:cNvSpPr txBox="1"/>
          <p:nvPr/>
        </p:nvSpPr>
        <p:spPr>
          <a:xfrm>
            <a:off x="2926080" y="896112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Diagnóstico Inicial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"/>
          <p:cNvSpPr txBox="1"/>
          <p:nvPr/>
        </p:nvSpPr>
        <p:spPr>
          <a:xfrm>
            <a:off x="9966960" y="411480"/>
            <a:ext cx="1188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📊🔎</a:t>
            </a:r>
            <a:endParaRPr b="0" i="0" sz="4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6510566" y="1729460"/>
            <a:ext cx="5662800" cy="5120700"/>
          </a:xfrm>
          <a:prstGeom prst="rect">
            <a:avLst/>
          </a:prstGeom>
          <a:solidFill>
            <a:srgbClr val="F2F6FC"/>
          </a:solidFill>
          <a:ln cap="flat" cmpd="sng" w="12700">
            <a:solidFill>
              <a:srgbClr val="F2F6F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658368" y="2148840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822A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E5822A"/>
                </a:solidFill>
                <a:latin typeface="Arial"/>
                <a:ea typeface="Arial"/>
                <a:cs typeface="Arial"/>
                <a:sym typeface="Arial"/>
              </a:rPr>
              <a:t>QUÉ SE HACE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"/>
          <p:cNvSpPr txBox="1"/>
          <p:nvPr/>
        </p:nvSpPr>
        <p:spPr>
          <a:xfrm>
            <a:off x="685800" y="2560320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5A9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45A91"/>
                </a:solidFill>
                <a:latin typeface="Arial"/>
                <a:ea typeface="Arial"/>
                <a:cs typeface="Arial"/>
                <a:sym typeface="Arial"/>
              </a:rPr>
              <a:t>▸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"/>
          <p:cNvSpPr txBox="1"/>
          <p:nvPr/>
        </p:nvSpPr>
        <p:spPr>
          <a:xfrm>
            <a:off x="987552" y="2542032"/>
            <a:ext cx="4983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1270"/>
              <a:buFont typeface="Arial"/>
              <a:buNone/>
            </a:pPr>
            <a:r>
              <a:rPr lang="en-US" sz="1270">
                <a:solidFill>
                  <a:srgbClr val="2A3545"/>
                </a:solidFill>
              </a:rPr>
              <a:t>Definir contexto y objetivos estratégicos</a:t>
            </a:r>
            <a:endParaRPr sz="1270">
              <a:solidFill>
                <a:srgbClr val="2A3545"/>
              </a:solidFill>
            </a:endParaRPr>
          </a:p>
        </p:txBody>
      </p:sp>
      <p:sp>
        <p:nvSpPr>
          <p:cNvPr id="68" name="Google Shape;68;p3"/>
          <p:cNvSpPr txBox="1"/>
          <p:nvPr/>
        </p:nvSpPr>
        <p:spPr>
          <a:xfrm>
            <a:off x="685800" y="2944368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5A9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45A91"/>
                </a:solidFill>
                <a:latin typeface="Arial"/>
                <a:ea typeface="Arial"/>
                <a:cs typeface="Arial"/>
                <a:sym typeface="Arial"/>
              </a:rPr>
              <a:t>▸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 txBox="1"/>
          <p:nvPr/>
        </p:nvSpPr>
        <p:spPr>
          <a:xfrm>
            <a:off x="987552" y="2926080"/>
            <a:ext cx="4983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1270"/>
              <a:buFont typeface="Arial"/>
              <a:buNone/>
            </a:pPr>
            <a:r>
              <a:rPr b="0" i="0" lang="en-US" sz="12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Aplicar FODA, riesgos, interesados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 txBox="1"/>
          <p:nvPr/>
        </p:nvSpPr>
        <p:spPr>
          <a:xfrm>
            <a:off x="685800" y="3328416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5A9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45A91"/>
                </a:solidFill>
                <a:latin typeface="Arial"/>
                <a:ea typeface="Arial"/>
                <a:cs typeface="Arial"/>
                <a:sym typeface="Arial"/>
              </a:rPr>
              <a:t>▸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 txBox="1"/>
          <p:nvPr/>
        </p:nvSpPr>
        <p:spPr>
          <a:xfrm>
            <a:off x="987552" y="3310128"/>
            <a:ext cx="4983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1270"/>
              <a:buFont typeface="Arial"/>
              <a:buNone/>
            </a:pPr>
            <a:r>
              <a:rPr b="0" i="0" lang="en-US" sz="12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Identificar brechas vs. CMMI V3.0 Nivel 2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"/>
          <p:cNvSpPr txBox="1"/>
          <p:nvPr/>
        </p:nvSpPr>
        <p:spPr>
          <a:xfrm>
            <a:off x="685800" y="3712464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5A9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45A91"/>
                </a:solidFill>
                <a:latin typeface="Arial"/>
                <a:ea typeface="Arial"/>
                <a:cs typeface="Arial"/>
                <a:sym typeface="Arial"/>
              </a:rPr>
              <a:t>▸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"/>
          <p:cNvSpPr txBox="1"/>
          <p:nvPr/>
        </p:nvSpPr>
        <p:spPr>
          <a:xfrm>
            <a:off x="987552" y="3694176"/>
            <a:ext cx="4983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1270"/>
              <a:buFont typeface="Arial"/>
              <a:buNone/>
            </a:pPr>
            <a:r>
              <a:rPr lang="en-US" sz="1270">
                <a:solidFill>
                  <a:srgbClr val="2A3545"/>
                </a:solidFill>
              </a:rPr>
              <a:t>Establecer línea base y KPIs</a:t>
            </a:r>
            <a:endParaRPr sz="1270">
              <a:solidFill>
                <a:srgbClr val="2A3545"/>
              </a:solidFill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667568" y="4360432"/>
            <a:ext cx="557700" cy="255900"/>
          </a:xfrm>
          <a:prstGeom prst="roundRect">
            <a:avLst>
              <a:gd fmla="val 32143" name="adj"/>
            </a:avLst>
          </a:prstGeom>
          <a:solidFill>
            <a:srgbClr val="183E69"/>
          </a:solidFill>
          <a:ln cap="flat" cmpd="sng" w="12700">
            <a:solidFill>
              <a:srgbClr val="183E6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 txBox="1"/>
          <p:nvPr/>
        </p:nvSpPr>
        <p:spPr>
          <a:xfrm>
            <a:off x="667568" y="4410724"/>
            <a:ext cx="5577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REQM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335080" y="4360432"/>
            <a:ext cx="420600" cy="255900"/>
          </a:xfrm>
          <a:prstGeom prst="roundRect">
            <a:avLst>
              <a:gd fmla="val 32143" name="adj"/>
            </a:avLst>
          </a:prstGeom>
          <a:solidFill>
            <a:srgbClr val="183E69"/>
          </a:solidFill>
          <a:ln cap="flat" cmpd="sng" w="12700">
            <a:solidFill>
              <a:srgbClr val="183E6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"/>
          <p:cNvSpPr txBox="1"/>
          <p:nvPr/>
        </p:nvSpPr>
        <p:spPr>
          <a:xfrm>
            <a:off x="1335080" y="4410724"/>
            <a:ext cx="4206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PP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1865432" y="4360432"/>
            <a:ext cx="489300" cy="255900"/>
          </a:xfrm>
          <a:prstGeom prst="roundRect">
            <a:avLst>
              <a:gd fmla="val 32143" name="adj"/>
            </a:avLst>
          </a:prstGeom>
          <a:solidFill>
            <a:srgbClr val="183E69"/>
          </a:solidFill>
          <a:ln cap="flat" cmpd="sng" w="12700">
            <a:solidFill>
              <a:srgbClr val="183E6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"/>
          <p:cNvSpPr txBox="1"/>
          <p:nvPr/>
        </p:nvSpPr>
        <p:spPr>
          <a:xfrm>
            <a:off x="1865432" y="4410724"/>
            <a:ext cx="4893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PMC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2464364" y="4360432"/>
            <a:ext cx="420600" cy="255900"/>
          </a:xfrm>
          <a:prstGeom prst="roundRect">
            <a:avLst>
              <a:gd fmla="val 32143" name="adj"/>
            </a:avLst>
          </a:prstGeom>
          <a:solidFill>
            <a:srgbClr val="183E69"/>
          </a:solidFill>
          <a:ln cap="flat" cmpd="sng" w="12700">
            <a:solidFill>
              <a:srgbClr val="183E6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"/>
          <p:cNvSpPr txBox="1"/>
          <p:nvPr/>
        </p:nvSpPr>
        <p:spPr>
          <a:xfrm>
            <a:off x="2464364" y="4410724"/>
            <a:ext cx="4206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CM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2994716" y="4360432"/>
            <a:ext cx="557700" cy="255900"/>
          </a:xfrm>
          <a:prstGeom prst="roundRect">
            <a:avLst>
              <a:gd fmla="val 32143" name="adj"/>
            </a:avLst>
          </a:prstGeom>
          <a:solidFill>
            <a:srgbClr val="183E69"/>
          </a:solidFill>
          <a:ln cap="flat" cmpd="sng" w="12700">
            <a:solidFill>
              <a:srgbClr val="183E6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"/>
          <p:cNvSpPr txBox="1"/>
          <p:nvPr/>
        </p:nvSpPr>
        <p:spPr>
          <a:xfrm>
            <a:off x="2994716" y="4410724"/>
            <a:ext cx="5577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PPQA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3662228" y="4360432"/>
            <a:ext cx="420600" cy="255900"/>
          </a:xfrm>
          <a:prstGeom prst="roundRect">
            <a:avLst>
              <a:gd fmla="val 32143" name="adj"/>
            </a:avLst>
          </a:prstGeom>
          <a:solidFill>
            <a:srgbClr val="183E69"/>
          </a:solidFill>
          <a:ln cap="flat" cmpd="sng" w="12700">
            <a:solidFill>
              <a:srgbClr val="183E6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"/>
          <p:cNvSpPr txBox="1"/>
          <p:nvPr/>
        </p:nvSpPr>
        <p:spPr>
          <a:xfrm>
            <a:off x="3662228" y="4410724"/>
            <a:ext cx="4206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576125" y="4998593"/>
            <a:ext cx="5394900" cy="822900"/>
          </a:xfrm>
          <a:prstGeom prst="roundRect">
            <a:avLst>
              <a:gd fmla="val 9722" name="adj"/>
            </a:avLst>
          </a:prstGeom>
          <a:solidFill>
            <a:srgbClr val="FFFFFF"/>
          </a:solidFill>
          <a:ln cap="flat" cmpd="sng" w="15225">
            <a:solidFill>
              <a:srgbClr val="20A4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 txBox="1"/>
          <p:nvPr/>
        </p:nvSpPr>
        <p:spPr>
          <a:xfrm>
            <a:off x="792950" y="5324672"/>
            <a:ext cx="510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140">
                <a:solidFill>
                  <a:srgbClr val="10462C"/>
                </a:solidFill>
              </a:rPr>
              <a:t>Informe de Diagnóstico CMMI-F1, Matriz de Estrategias y Plan de Acción / Mitigación de Riesgos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"/>
          <p:cNvSpPr txBox="1"/>
          <p:nvPr/>
        </p:nvSpPr>
        <p:spPr>
          <a:xfrm>
            <a:off x="759011" y="5090395"/>
            <a:ext cx="2194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7A50"/>
              </a:buClr>
              <a:buSzPts val="960"/>
              <a:buFont typeface="Arial"/>
              <a:buNone/>
            </a:pPr>
            <a:r>
              <a:rPr b="1" i="0" lang="en-US" sz="960" u="none" cap="none" strike="noStrike">
                <a:solidFill>
                  <a:srgbClr val="1F7A50"/>
                </a:solidFill>
                <a:latin typeface="Arial"/>
                <a:ea typeface="Arial"/>
                <a:cs typeface="Arial"/>
                <a:sym typeface="Arial"/>
              </a:rPr>
              <a:t>ENTREGABLE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"/>
          <p:cNvSpPr txBox="1"/>
          <p:nvPr/>
        </p:nvSpPr>
        <p:spPr>
          <a:xfrm>
            <a:off x="6995160" y="214884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822A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E5822A"/>
                </a:solidFill>
                <a:latin typeface="Arial"/>
                <a:ea typeface="Arial"/>
                <a:cs typeface="Arial"/>
                <a:sym typeface="Arial"/>
              </a:rPr>
              <a:t>HERRAMIENTAS &amp; TÉCNICAS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"/>
          <p:cNvSpPr txBox="1"/>
          <p:nvPr/>
        </p:nvSpPr>
        <p:spPr>
          <a:xfrm>
            <a:off x="7059168" y="2582957"/>
            <a:ext cx="1353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A6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3A63"/>
                </a:solidFill>
                <a:latin typeface="Arial"/>
                <a:ea typeface="Arial"/>
                <a:cs typeface="Arial"/>
                <a:sym typeface="Arial"/>
              </a:rPr>
              <a:t>Gap Analysis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"/>
          <p:cNvSpPr txBox="1"/>
          <p:nvPr/>
        </p:nvSpPr>
        <p:spPr>
          <a:xfrm>
            <a:off x="8549640" y="2542032"/>
            <a:ext cx="2971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970"/>
              <a:buFont typeface="Arial"/>
              <a:buNone/>
            </a:pPr>
            <a:r>
              <a:rPr lang="en-US" sz="950">
                <a:solidFill>
                  <a:srgbClr val="2A3545"/>
                </a:solidFill>
              </a:rPr>
              <a:t>Brechas categorizadas en Tecnología, Operación, Información, Seguridad y Trazabilidad clínica.</a:t>
            </a:r>
            <a:endParaRPr sz="950">
              <a:solidFill>
                <a:srgbClr val="2A3545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970"/>
              <a:buFont typeface="Arial"/>
              <a:buNone/>
            </a:pPr>
            <a:r>
              <a:t/>
            </a:r>
            <a:endParaRPr sz="950">
              <a:solidFill>
                <a:srgbClr val="2A3545"/>
              </a:solidFill>
            </a:endParaRPr>
          </a:p>
        </p:txBody>
      </p:sp>
      <p:cxnSp>
        <p:nvCxnSpPr>
          <p:cNvPr id="92" name="Google Shape;92;p3"/>
          <p:cNvCxnSpPr/>
          <p:nvPr/>
        </p:nvCxnSpPr>
        <p:spPr>
          <a:xfrm>
            <a:off x="6995160" y="2843331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CFD8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3"/>
          <p:cNvSpPr txBox="1"/>
          <p:nvPr/>
        </p:nvSpPr>
        <p:spPr>
          <a:xfrm>
            <a:off x="7059168" y="2934771"/>
            <a:ext cx="1353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A6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3A63"/>
                </a:solidFill>
                <a:latin typeface="Arial"/>
                <a:ea typeface="Arial"/>
                <a:cs typeface="Arial"/>
                <a:sym typeface="Arial"/>
              </a:rPr>
              <a:t>FODA / Riesgos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3"/>
          <p:cNvSpPr txBox="1"/>
          <p:nvPr/>
        </p:nvSpPr>
        <p:spPr>
          <a:xfrm>
            <a:off x="8549640" y="2934771"/>
            <a:ext cx="2971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970"/>
              <a:buFont typeface="Arial"/>
              <a:buNone/>
            </a:pPr>
            <a:r>
              <a:rPr lang="en-US" sz="950">
                <a:solidFill>
                  <a:srgbClr val="2A3545"/>
                </a:solidFill>
              </a:rPr>
              <a:t>Cruce de estrategias (FO, DO, FA, DA) y plan de contingencia (ej. para pérdida de datos o rechazo tecnológico)</a:t>
            </a:r>
            <a:endParaRPr sz="950">
              <a:solidFill>
                <a:srgbClr val="2A3545"/>
              </a:solidFill>
            </a:endParaRPr>
          </a:p>
        </p:txBody>
      </p:sp>
      <p:cxnSp>
        <p:nvCxnSpPr>
          <p:cNvPr id="95" name="Google Shape;95;p3"/>
          <p:cNvCxnSpPr/>
          <p:nvPr/>
        </p:nvCxnSpPr>
        <p:spPr>
          <a:xfrm>
            <a:off x="6995160" y="3428457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CFD8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" name="Google Shape;96;p3"/>
          <p:cNvSpPr txBox="1"/>
          <p:nvPr/>
        </p:nvSpPr>
        <p:spPr>
          <a:xfrm>
            <a:off x="7059168" y="3471280"/>
            <a:ext cx="1353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A6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3A63"/>
                </a:solidFill>
                <a:latin typeface="Arial"/>
                <a:ea typeface="Arial"/>
                <a:cs typeface="Arial"/>
                <a:sym typeface="Arial"/>
              </a:rPr>
              <a:t>Baseline KPIs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"/>
          <p:cNvSpPr txBox="1"/>
          <p:nvPr/>
        </p:nvSpPr>
        <p:spPr>
          <a:xfrm>
            <a:off x="8549640" y="3471280"/>
            <a:ext cx="2971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950">
                <a:solidFill>
                  <a:srgbClr val="2A3545"/>
                </a:solidFill>
              </a:rPr>
              <a:t>KPIs operativos (consultas por médico, exactitud de registros &gt;95%) y tecnológicos (disponibilidad &gt;99.5%, respuesta &lt;2s)</a:t>
            </a:r>
            <a:endParaRPr sz="950">
              <a:solidFill>
                <a:srgbClr val="2A3545"/>
              </a:solidFill>
            </a:endParaRPr>
          </a:p>
        </p:txBody>
      </p:sp>
      <p:cxnSp>
        <p:nvCxnSpPr>
          <p:cNvPr id="98" name="Google Shape;98;p3"/>
          <p:cNvCxnSpPr/>
          <p:nvPr/>
        </p:nvCxnSpPr>
        <p:spPr>
          <a:xfrm>
            <a:off x="6983843" y="3987599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CFD8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" name="Google Shape;99;p3"/>
          <p:cNvSpPr txBox="1"/>
          <p:nvPr/>
        </p:nvSpPr>
        <p:spPr>
          <a:xfrm>
            <a:off x="7059168" y="4033771"/>
            <a:ext cx="1353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050">
                <a:solidFill>
                  <a:srgbClr val="153A63"/>
                </a:solidFill>
              </a:rPr>
              <a:t>Matriz de Stakeholders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"/>
          <p:cNvSpPr txBox="1"/>
          <p:nvPr/>
        </p:nvSpPr>
        <p:spPr>
          <a:xfrm>
            <a:off x="8549640" y="4033771"/>
            <a:ext cx="2971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970"/>
              <a:buFont typeface="Arial"/>
              <a:buNone/>
            </a:pPr>
            <a:r>
              <a:rPr lang="en-US" sz="950">
                <a:solidFill>
                  <a:srgbClr val="2A3545"/>
                </a:solidFill>
              </a:rPr>
              <a:t>Clasificación de actores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1" name="Google Shape;101;p3"/>
          <p:cNvCxnSpPr/>
          <p:nvPr/>
        </p:nvCxnSpPr>
        <p:spPr>
          <a:xfrm>
            <a:off x="6995160" y="4289803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CFD8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3"/>
          <p:cNvSpPr/>
          <p:nvPr/>
        </p:nvSpPr>
        <p:spPr>
          <a:xfrm>
            <a:off x="7059174" y="4641253"/>
            <a:ext cx="4663500" cy="1215600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10150">
            <a:solidFill>
              <a:srgbClr val="D8E1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7287778" y="4773496"/>
            <a:ext cx="1234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822A"/>
              </a:buClr>
              <a:buSzPts val="880"/>
              <a:buFont typeface="Arial"/>
              <a:buNone/>
            </a:pPr>
            <a:r>
              <a:rPr b="1" i="0" lang="en-US" sz="1180" u="none" cap="none" strike="noStrike">
                <a:solidFill>
                  <a:srgbClr val="E5822A"/>
                </a:solidFill>
                <a:latin typeface="Arial"/>
                <a:ea typeface="Arial"/>
                <a:cs typeface="Arial"/>
                <a:sym typeface="Arial"/>
              </a:rPr>
              <a:t>HALLAZGO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7287775" y="5011258"/>
            <a:ext cx="4160400" cy="7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La clínica posee una base de competencia clínica y médica muy sólida; sin embargo, las brechas principales radican en la altísima dependencia de procesos manuales, falta de integración de la información y ausencia de formalización/métricas de gestión.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10881360" y="6510528"/>
            <a:ext cx="7772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C7D4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BBC7D4"/>
                </a:solidFill>
                <a:latin typeface="Arial"/>
                <a:ea typeface="Arial"/>
                <a:cs typeface="Arial"/>
                <a:sym typeface="Arial"/>
              </a:rPr>
              <a:t>Fase 1 de 7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/>
          <p:nvPr/>
        </p:nvSpPr>
        <p:spPr>
          <a:xfrm>
            <a:off x="0" y="0"/>
            <a:ext cx="12191700" cy="1389900"/>
          </a:xfrm>
          <a:prstGeom prst="rect">
            <a:avLst/>
          </a:prstGeom>
          <a:solidFill>
            <a:srgbClr val="153A63"/>
          </a:solidFill>
          <a:ln cap="flat" cmpd="sng" w="12700">
            <a:solidFill>
              <a:srgbClr val="153A6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"/>
          <p:cNvSpPr txBox="1"/>
          <p:nvPr/>
        </p:nvSpPr>
        <p:spPr>
          <a:xfrm>
            <a:off x="621792" y="164592"/>
            <a:ext cx="82296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C6D8"/>
              </a:buClr>
              <a:buSzPts val="7000"/>
              <a:buFont typeface="Arial"/>
              <a:buNone/>
            </a:pPr>
            <a:r>
              <a:rPr b="1" i="0" lang="en-US" sz="7000" u="none" cap="none" strike="noStrike">
                <a:solidFill>
                  <a:srgbClr val="B9C6D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7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2926080" y="296229"/>
            <a:ext cx="2103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C9A1"/>
              </a:buClr>
              <a:buSzPts val="1120"/>
              <a:buFont typeface="Arial"/>
              <a:buNone/>
            </a:pPr>
            <a:r>
              <a:rPr b="1" i="0" lang="en-US" sz="1120" u="none" cap="none" strike="noStrike">
                <a:solidFill>
                  <a:srgbClr val="F4C9A1"/>
                </a:solidFill>
                <a:latin typeface="Arial"/>
                <a:ea typeface="Arial"/>
                <a:cs typeface="Arial"/>
                <a:sym typeface="Arial"/>
              </a:rPr>
              <a:t>L I D E R A Z G O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"/>
          <p:cNvSpPr txBox="1"/>
          <p:nvPr/>
        </p:nvSpPr>
        <p:spPr>
          <a:xfrm>
            <a:off x="2926080" y="533973"/>
            <a:ext cx="658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Compromiso y Liderazgo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6528900" y="1389899"/>
            <a:ext cx="5662800" cy="5468100"/>
          </a:xfrm>
          <a:prstGeom prst="rect">
            <a:avLst/>
          </a:prstGeom>
          <a:solidFill>
            <a:srgbClr val="F2F6FC"/>
          </a:solidFill>
          <a:ln cap="flat" cmpd="sng" w="12700">
            <a:solidFill>
              <a:srgbClr val="F2F6F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/>
          <p:cNvSpPr txBox="1"/>
          <p:nvPr/>
        </p:nvSpPr>
        <p:spPr>
          <a:xfrm>
            <a:off x="658368" y="2148840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822A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E5822A"/>
                </a:solidFill>
                <a:latin typeface="Arial"/>
                <a:ea typeface="Arial"/>
                <a:cs typeface="Arial"/>
                <a:sym typeface="Arial"/>
              </a:rPr>
              <a:t>QUÉ SE HACE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 txBox="1"/>
          <p:nvPr/>
        </p:nvSpPr>
        <p:spPr>
          <a:xfrm>
            <a:off x="685800" y="2560320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5A9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45A91"/>
                </a:solidFill>
                <a:latin typeface="Arial"/>
                <a:ea typeface="Arial"/>
                <a:cs typeface="Arial"/>
                <a:sym typeface="Arial"/>
              </a:rPr>
              <a:t>▸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"/>
          <p:cNvSpPr txBox="1"/>
          <p:nvPr/>
        </p:nvSpPr>
        <p:spPr>
          <a:xfrm>
            <a:off x="987552" y="2542032"/>
            <a:ext cx="4983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1270"/>
              <a:buFont typeface="Arial"/>
              <a:buNone/>
            </a:pPr>
            <a:r>
              <a:rPr b="0" i="0" lang="en-US" sz="12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Formalizar patrocinio </a:t>
            </a:r>
            <a:r>
              <a:rPr lang="en-US" sz="1270">
                <a:solidFill>
                  <a:srgbClr val="2A3545"/>
                </a:solidFill>
              </a:rPr>
              <a:t>ejecutivo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685800" y="2944368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5A9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45A91"/>
                </a:solidFill>
                <a:latin typeface="Arial"/>
                <a:ea typeface="Arial"/>
                <a:cs typeface="Arial"/>
                <a:sym typeface="Arial"/>
              </a:rPr>
              <a:t>▸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987552" y="2926080"/>
            <a:ext cx="4983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1270"/>
              <a:buFont typeface="Arial"/>
              <a:buNone/>
            </a:pPr>
            <a:r>
              <a:rPr b="0" i="0" lang="en-US" sz="12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Conformar el Comité de Dirección de Calidad (CDC)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685800" y="3328416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5A9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45A91"/>
                </a:solidFill>
                <a:latin typeface="Arial"/>
                <a:ea typeface="Arial"/>
                <a:cs typeface="Arial"/>
                <a:sym typeface="Arial"/>
              </a:rPr>
              <a:t>▸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987552" y="3310128"/>
            <a:ext cx="4983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1270"/>
              <a:buFont typeface="Arial"/>
              <a:buNone/>
            </a:pPr>
            <a:r>
              <a:rPr b="0" i="0" lang="en-US" sz="12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Asignar recursos</a:t>
            </a:r>
            <a:r>
              <a:rPr lang="en-US" sz="1270">
                <a:solidFill>
                  <a:srgbClr val="2A3545"/>
                </a:solidFill>
              </a:rPr>
              <a:t> y</a:t>
            </a:r>
            <a:r>
              <a:rPr b="0" i="0" lang="en-US" sz="12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 presupuesto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576068" y="4614614"/>
            <a:ext cx="489300" cy="255900"/>
          </a:xfrm>
          <a:prstGeom prst="roundRect">
            <a:avLst>
              <a:gd fmla="val 32143" name="adj"/>
            </a:avLst>
          </a:prstGeom>
          <a:solidFill>
            <a:srgbClr val="183E69"/>
          </a:solidFill>
          <a:ln cap="flat" cmpd="sng" w="12700">
            <a:solidFill>
              <a:srgbClr val="183E6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576068" y="4664906"/>
            <a:ext cx="4893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GOV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1175000" y="4614614"/>
            <a:ext cx="420600" cy="255900"/>
          </a:xfrm>
          <a:prstGeom prst="roundRect">
            <a:avLst>
              <a:gd fmla="val 32143" name="adj"/>
            </a:avLst>
          </a:prstGeom>
          <a:solidFill>
            <a:srgbClr val="183E69"/>
          </a:solidFill>
          <a:ln cap="flat" cmpd="sng" w="12700">
            <a:solidFill>
              <a:srgbClr val="183E6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1175000" y="4664906"/>
            <a:ext cx="4206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II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1705352" y="4614614"/>
            <a:ext cx="420600" cy="255900"/>
          </a:xfrm>
          <a:prstGeom prst="roundRect">
            <a:avLst>
              <a:gd fmla="val 32143" name="adj"/>
            </a:avLst>
          </a:prstGeom>
          <a:solidFill>
            <a:srgbClr val="183E69"/>
          </a:solidFill>
          <a:ln cap="flat" cmpd="sng" w="12700">
            <a:solidFill>
              <a:srgbClr val="183E6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1705352" y="4664906"/>
            <a:ext cx="4206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OT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2235704" y="4614614"/>
            <a:ext cx="489300" cy="255900"/>
          </a:xfrm>
          <a:prstGeom prst="roundRect">
            <a:avLst>
              <a:gd fmla="val 32143" name="adj"/>
            </a:avLst>
          </a:prstGeom>
          <a:solidFill>
            <a:srgbClr val="183E69"/>
          </a:solidFill>
          <a:ln cap="flat" cmpd="sng" w="12700">
            <a:solidFill>
              <a:srgbClr val="183E6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2235704" y="4664906"/>
            <a:ext cx="4893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PPL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576075" y="5060301"/>
            <a:ext cx="5394900" cy="822900"/>
          </a:xfrm>
          <a:prstGeom prst="roundRect">
            <a:avLst>
              <a:gd fmla="val 9722" name="adj"/>
            </a:avLst>
          </a:prstGeom>
          <a:solidFill>
            <a:srgbClr val="FFFFFF"/>
          </a:solidFill>
          <a:ln cap="flat" cmpd="sng" w="15225">
            <a:solidFill>
              <a:srgbClr val="20A4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1140">
              <a:solidFill>
                <a:srgbClr val="10462C"/>
              </a:solidFill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758950" y="5181125"/>
            <a:ext cx="210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7A50"/>
              </a:buClr>
              <a:buSzPts val="960"/>
              <a:buFont typeface="Arial"/>
              <a:buNone/>
            </a:pPr>
            <a:r>
              <a:rPr b="1" i="0" lang="en-US" sz="960" u="none" cap="none" strike="noStrike">
                <a:solidFill>
                  <a:srgbClr val="1F7A50"/>
                </a:solidFill>
                <a:latin typeface="Arial"/>
                <a:ea typeface="Arial"/>
                <a:cs typeface="Arial"/>
                <a:sym typeface="Arial"/>
              </a:rPr>
              <a:t>ENTREGABLE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 txBox="1"/>
          <p:nvPr/>
        </p:nvSpPr>
        <p:spPr>
          <a:xfrm>
            <a:off x="758950" y="5407649"/>
            <a:ext cx="4892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140">
                <a:solidFill>
                  <a:srgbClr val="10462C"/>
                </a:solidFill>
              </a:rPr>
              <a:t>Estructura CDC, Presupuesto/ROI, Plan de Comunicación y Tablero de Control de Liderazgo</a:t>
            </a:r>
            <a:endParaRPr b="1" sz="1140">
              <a:solidFill>
                <a:srgbClr val="10462C"/>
              </a:solidFill>
            </a:endParaRPr>
          </a:p>
        </p:txBody>
      </p:sp>
      <p:sp>
        <p:nvSpPr>
          <p:cNvPr id="134" name="Google Shape;134;p4"/>
          <p:cNvSpPr txBox="1"/>
          <p:nvPr/>
        </p:nvSpPr>
        <p:spPr>
          <a:xfrm>
            <a:off x="6995160" y="214884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822A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E5822A"/>
                </a:solidFill>
                <a:latin typeface="Arial"/>
                <a:ea typeface="Arial"/>
                <a:cs typeface="Arial"/>
                <a:sym typeface="Arial"/>
              </a:rPr>
              <a:t>HERRAMIENTAS &amp; TÉCNICAS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4"/>
          <p:cNvSpPr txBox="1"/>
          <p:nvPr/>
        </p:nvSpPr>
        <p:spPr>
          <a:xfrm>
            <a:off x="7059175" y="2542020"/>
            <a:ext cx="13533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A63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153A63"/>
                </a:solidFill>
              </a:rPr>
              <a:t>CDC y matriz de responsabilidades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 txBox="1"/>
          <p:nvPr/>
        </p:nvSpPr>
        <p:spPr>
          <a:xfrm>
            <a:off x="8549640" y="2622557"/>
            <a:ext cx="2971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970"/>
              <a:buFont typeface="Arial"/>
              <a:buNone/>
            </a:pPr>
            <a:r>
              <a:rPr lang="en-US" sz="970">
                <a:solidFill>
                  <a:srgbClr val="2A3545"/>
                </a:solidFill>
              </a:rPr>
              <a:t>Definición</a:t>
            </a:r>
            <a:r>
              <a:rPr lang="en-US" sz="970">
                <a:solidFill>
                  <a:srgbClr val="2A3545"/>
                </a:solidFill>
              </a:rPr>
              <a:t> clara de los roles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" name="Google Shape;137;p4"/>
          <p:cNvCxnSpPr/>
          <p:nvPr/>
        </p:nvCxnSpPr>
        <p:spPr>
          <a:xfrm>
            <a:off x="6995160" y="2922549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CFD8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8" name="Google Shape;138;p4"/>
          <p:cNvSpPr txBox="1"/>
          <p:nvPr/>
        </p:nvSpPr>
        <p:spPr>
          <a:xfrm>
            <a:off x="7059168" y="3013989"/>
            <a:ext cx="1353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A63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153A63"/>
                </a:solidFill>
              </a:rPr>
              <a:t>Análisis ROI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8549640" y="3013989"/>
            <a:ext cx="2971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970"/>
              <a:buFont typeface="Arial"/>
              <a:buNone/>
            </a:pPr>
            <a:r>
              <a:rPr lang="en-US" sz="970">
                <a:solidFill>
                  <a:srgbClr val="2A3545"/>
                </a:solidFill>
              </a:rPr>
              <a:t>Factibilidad y cálculo de </a:t>
            </a:r>
            <a:r>
              <a:rPr lang="en-US" sz="970">
                <a:solidFill>
                  <a:srgbClr val="2A3545"/>
                </a:solidFill>
              </a:rPr>
              <a:t>recuperación</a:t>
            </a:r>
            <a:r>
              <a:rPr lang="en-US" sz="970">
                <a:solidFill>
                  <a:srgbClr val="2A3545"/>
                </a:solidFill>
              </a:rPr>
              <a:t> de inversión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0" name="Google Shape;140;p4"/>
          <p:cNvCxnSpPr/>
          <p:nvPr/>
        </p:nvCxnSpPr>
        <p:spPr>
          <a:xfrm>
            <a:off x="6995160" y="3270021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CFD8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1" name="Google Shape;141;p4"/>
          <p:cNvSpPr txBox="1"/>
          <p:nvPr/>
        </p:nvSpPr>
        <p:spPr>
          <a:xfrm>
            <a:off x="7059168" y="3361461"/>
            <a:ext cx="1353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A63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153A63"/>
                </a:solidFill>
              </a:rPr>
              <a:t>Mapeo Stakeholders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8549640" y="3361461"/>
            <a:ext cx="2971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970"/>
              <a:buFont typeface="Arial"/>
              <a:buNone/>
            </a:pPr>
            <a:r>
              <a:rPr b="0" i="0" lang="en-US" sz="9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responsables de calidad, negocio y Scrum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" name="Google Shape;143;p4"/>
          <p:cNvCxnSpPr/>
          <p:nvPr/>
        </p:nvCxnSpPr>
        <p:spPr>
          <a:xfrm>
            <a:off x="6995160" y="3617493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CFD8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" name="Google Shape;144;p4"/>
          <p:cNvSpPr txBox="1"/>
          <p:nvPr/>
        </p:nvSpPr>
        <p:spPr>
          <a:xfrm>
            <a:off x="7059168" y="3708933"/>
            <a:ext cx="1353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A63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153A63"/>
                </a:solidFill>
              </a:rPr>
              <a:t>Modelo de adopción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8549640" y="3708933"/>
            <a:ext cx="2971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970"/>
              <a:buFont typeface="Arial"/>
              <a:buNone/>
            </a:pPr>
            <a:r>
              <a:rPr lang="en-US" sz="970">
                <a:solidFill>
                  <a:srgbClr val="2A3545"/>
                </a:solidFill>
              </a:rPr>
              <a:t>Ciclo progresivo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6" name="Google Shape;146;p4"/>
          <p:cNvCxnSpPr/>
          <p:nvPr/>
        </p:nvCxnSpPr>
        <p:spPr>
          <a:xfrm>
            <a:off x="6995160" y="3964965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CFD8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" name="Google Shape;147;p4"/>
          <p:cNvSpPr txBox="1"/>
          <p:nvPr/>
        </p:nvSpPr>
        <p:spPr>
          <a:xfrm>
            <a:off x="7059168" y="4056405"/>
            <a:ext cx="1353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A63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153A63"/>
                </a:solidFill>
              </a:rPr>
              <a:t>Balanced </a:t>
            </a:r>
            <a:r>
              <a:rPr b="1" lang="en-US" sz="1050">
                <a:solidFill>
                  <a:srgbClr val="153A63"/>
                </a:solidFill>
              </a:rPr>
              <a:t>ScoreCard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8549640" y="4056405"/>
            <a:ext cx="2971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970"/>
              <a:buFont typeface="Arial"/>
              <a:buNone/>
            </a:pPr>
            <a:r>
              <a:rPr lang="en-US" sz="970">
                <a:solidFill>
                  <a:srgbClr val="2A3545"/>
                </a:solidFill>
              </a:rPr>
              <a:t>Indicadores estratégicos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" name="Google Shape;149;p4"/>
          <p:cNvCxnSpPr/>
          <p:nvPr/>
        </p:nvCxnSpPr>
        <p:spPr>
          <a:xfrm>
            <a:off x="6995160" y="4312437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CFD8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4"/>
          <p:cNvSpPr/>
          <p:nvPr/>
        </p:nvSpPr>
        <p:spPr>
          <a:xfrm>
            <a:off x="6995150" y="4824851"/>
            <a:ext cx="4892100" cy="1173300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10150">
            <a:solidFill>
              <a:srgbClr val="D8E1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7196328" y="4995696"/>
            <a:ext cx="1234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822A"/>
              </a:buClr>
              <a:buSzPts val="880"/>
              <a:buFont typeface="Arial"/>
              <a:buNone/>
            </a:pPr>
            <a:r>
              <a:rPr b="1" i="0" lang="en-US" sz="1380" u="none" cap="none" strike="noStrike">
                <a:solidFill>
                  <a:srgbClr val="E5822A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endParaRPr b="0" i="0" sz="13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7196325" y="5249026"/>
            <a:ext cx="4572000" cy="5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140">
                <a:solidFill>
                  <a:srgbClr val="245A91"/>
                </a:solidFill>
              </a:rPr>
              <a:t>Transformar los hallazgos del diagnóstico en un compromiso institucional sólido, pasando del "análisis" a la "acción estratégica" mediante la asignación real de recursos, gobernanza y liderazgo.</a:t>
            </a:r>
            <a:endParaRPr b="0" i="0" sz="1060" u="none" cap="none" strike="noStrike">
              <a:solidFill>
                <a:srgbClr val="245A9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4"/>
          <p:cNvSpPr txBox="1"/>
          <p:nvPr/>
        </p:nvSpPr>
        <p:spPr>
          <a:xfrm>
            <a:off x="10881360" y="6510528"/>
            <a:ext cx="7772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C7D4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BBC7D4"/>
                </a:solidFill>
                <a:latin typeface="Arial"/>
                <a:ea typeface="Arial"/>
                <a:cs typeface="Arial"/>
                <a:sym typeface="Arial"/>
              </a:rPr>
              <a:t>Fase 2 de 7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4"/>
          <p:cNvSpPr txBox="1"/>
          <p:nvPr/>
        </p:nvSpPr>
        <p:spPr>
          <a:xfrm>
            <a:off x="685800" y="3712464"/>
            <a:ext cx="183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5A9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45A91"/>
                </a:solidFill>
                <a:latin typeface="Arial"/>
                <a:ea typeface="Arial"/>
                <a:cs typeface="Arial"/>
                <a:sym typeface="Arial"/>
              </a:rPr>
              <a:t>▸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4"/>
          <p:cNvSpPr txBox="1"/>
          <p:nvPr/>
        </p:nvSpPr>
        <p:spPr>
          <a:xfrm>
            <a:off x="987552" y="3694176"/>
            <a:ext cx="498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1270"/>
              <a:buFont typeface="Arial"/>
              <a:buNone/>
            </a:pPr>
            <a:r>
              <a:rPr lang="en-US" sz="1270">
                <a:solidFill>
                  <a:srgbClr val="2A3545"/>
                </a:solidFill>
              </a:rPr>
              <a:t>Desarrollar plan de comunicación y gestión del cambio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4"/>
          <p:cNvSpPr txBox="1"/>
          <p:nvPr/>
        </p:nvSpPr>
        <p:spPr>
          <a:xfrm>
            <a:off x="685800" y="4093714"/>
            <a:ext cx="183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5A9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45A91"/>
                </a:solidFill>
                <a:latin typeface="Arial"/>
                <a:ea typeface="Arial"/>
                <a:cs typeface="Arial"/>
                <a:sym typeface="Arial"/>
              </a:rPr>
              <a:t>▸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4"/>
          <p:cNvSpPr txBox="1"/>
          <p:nvPr/>
        </p:nvSpPr>
        <p:spPr>
          <a:xfrm>
            <a:off x="987552" y="4075426"/>
            <a:ext cx="498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1270"/>
              <a:buFont typeface="Arial"/>
              <a:buNone/>
            </a:pPr>
            <a:r>
              <a:rPr lang="en-US" sz="1270">
                <a:solidFill>
                  <a:srgbClr val="2A3545"/>
                </a:solidFill>
              </a:rPr>
              <a:t>Establecer indicadores de liderazgo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"/>
          <p:cNvSpPr/>
          <p:nvPr/>
        </p:nvSpPr>
        <p:spPr>
          <a:xfrm>
            <a:off x="0" y="0"/>
            <a:ext cx="12191700" cy="1275600"/>
          </a:xfrm>
          <a:prstGeom prst="rect">
            <a:avLst/>
          </a:prstGeom>
          <a:solidFill>
            <a:srgbClr val="153A63"/>
          </a:solidFill>
          <a:ln cap="flat" cmpd="sng" w="12700">
            <a:solidFill>
              <a:srgbClr val="153A6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"/>
          <p:cNvSpPr txBox="1"/>
          <p:nvPr/>
        </p:nvSpPr>
        <p:spPr>
          <a:xfrm>
            <a:off x="621792" y="164592"/>
            <a:ext cx="82296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C6D8"/>
              </a:buClr>
              <a:buSzPts val="7000"/>
              <a:buFont typeface="Arial"/>
              <a:buNone/>
            </a:pPr>
            <a:r>
              <a:rPr b="1" i="0" lang="en-US" sz="7000" u="none" cap="none" strike="noStrike">
                <a:solidFill>
                  <a:srgbClr val="B9C6D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7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6528825" y="1275600"/>
            <a:ext cx="5662800" cy="5582400"/>
          </a:xfrm>
          <a:prstGeom prst="rect">
            <a:avLst/>
          </a:prstGeom>
          <a:solidFill>
            <a:srgbClr val="F2F6FC"/>
          </a:solidFill>
          <a:ln cap="flat" cmpd="sng" w="12700">
            <a:solidFill>
              <a:srgbClr val="F2F6F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5"/>
          <p:cNvSpPr txBox="1"/>
          <p:nvPr/>
        </p:nvSpPr>
        <p:spPr>
          <a:xfrm>
            <a:off x="658368" y="2148840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822A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E5822A"/>
                </a:solidFill>
                <a:latin typeface="Arial"/>
                <a:ea typeface="Arial"/>
                <a:cs typeface="Arial"/>
                <a:sym typeface="Arial"/>
              </a:rPr>
              <a:t>QUÉ SE HACE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5"/>
          <p:cNvSpPr txBox="1"/>
          <p:nvPr/>
        </p:nvSpPr>
        <p:spPr>
          <a:xfrm>
            <a:off x="685800" y="2560320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5A9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45A91"/>
                </a:solidFill>
                <a:latin typeface="Arial"/>
                <a:ea typeface="Arial"/>
                <a:cs typeface="Arial"/>
                <a:sym typeface="Arial"/>
              </a:rPr>
              <a:t>▸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5"/>
          <p:cNvSpPr txBox="1"/>
          <p:nvPr/>
        </p:nvSpPr>
        <p:spPr>
          <a:xfrm>
            <a:off x="987552" y="2542032"/>
            <a:ext cx="4983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1270"/>
              <a:buFont typeface="Arial"/>
              <a:buNone/>
            </a:pPr>
            <a:r>
              <a:rPr b="0" i="0" lang="en-US" sz="12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Definir alcance funcional y exclusiones del sistema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5"/>
          <p:cNvSpPr txBox="1"/>
          <p:nvPr/>
        </p:nvSpPr>
        <p:spPr>
          <a:xfrm>
            <a:off x="685800" y="2944368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5A9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45A91"/>
                </a:solidFill>
                <a:latin typeface="Arial"/>
                <a:ea typeface="Arial"/>
                <a:cs typeface="Arial"/>
                <a:sym typeface="Arial"/>
              </a:rPr>
              <a:t>▸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5"/>
          <p:cNvSpPr txBox="1"/>
          <p:nvPr/>
        </p:nvSpPr>
        <p:spPr>
          <a:xfrm>
            <a:off x="987552" y="2926080"/>
            <a:ext cx="4983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1270"/>
              <a:buFont typeface="Arial"/>
              <a:buNone/>
            </a:pPr>
            <a:r>
              <a:rPr b="0" i="0" lang="en-US" sz="12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Priorizar el módulo de ventas como piloto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5"/>
          <p:cNvSpPr txBox="1"/>
          <p:nvPr/>
        </p:nvSpPr>
        <p:spPr>
          <a:xfrm>
            <a:off x="2926080" y="353568"/>
            <a:ext cx="2103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C9A1"/>
              </a:buClr>
              <a:buSzPts val="1120"/>
              <a:buFont typeface="Arial"/>
              <a:buNone/>
            </a:pPr>
            <a:r>
              <a:rPr b="1" i="0" lang="en-US" sz="1120" u="none" cap="none" strike="noStrike">
                <a:solidFill>
                  <a:srgbClr val="F4C9A1"/>
                </a:solidFill>
                <a:latin typeface="Arial"/>
                <a:ea typeface="Arial"/>
                <a:cs typeface="Arial"/>
                <a:sym typeface="Arial"/>
              </a:rPr>
              <a:t>D I S E Ñ O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5"/>
          <p:cNvSpPr txBox="1"/>
          <p:nvPr/>
        </p:nvSpPr>
        <p:spPr>
          <a:xfrm>
            <a:off x="2926080" y="591312"/>
            <a:ext cx="658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Planificación y Diseño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5"/>
          <p:cNvSpPr txBox="1"/>
          <p:nvPr/>
        </p:nvSpPr>
        <p:spPr>
          <a:xfrm>
            <a:off x="685800" y="3328416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5A9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45A91"/>
                </a:solidFill>
                <a:latin typeface="Arial"/>
                <a:ea typeface="Arial"/>
                <a:cs typeface="Arial"/>
                <a:sym typeface="Arial"/>
              </a:rPr>
              <a:t>▸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5"/>
          <p:cNvSpPr txBox="1"/>
          <p:nvPr/>
        </p:nvSpPr>
        <p:spPr>
          <a:xfrm>
            <a:off x="987552" y="3310128"/>
            <a:ext cx="4983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1270"/>
              <a:buFont typeface="Arial"/>
              <a:buNone/>
            </a:pPr>
            <a:r>
              <a:rPr b="0" i="0" lang="en-US" sz="12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Seleccionar PAs: PP, PMC, REQM, MA, PPQA y CM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5"/>
          <p:cNvSpPr txBox="1"/>
          <p:nvPr/>
        </p:nvSpPr>
        <p:spPr>
          <a:xfrm>
            <a:off x="685800" y="3712464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5A9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45A91"/>
                </a:solidFill>
                <a:latin typeface="Arial"/>
                <a:ea typeface="Arial"/>
                <a:cs typeface="Arial"/>
                <a:sym typeface="Arial"/>
              </a:rPr>
              <a:t>▸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5"/>
          <p:cNvSpPr txBox="1"/>
          <p:nvPr/>
        </p:nvSpPr>
        <p:spPr>
          <a:xfrm>
            <a:off x="987552" y="3694176"/>
            <a:ext cx="4983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1270"/>
              <a:buFont typeface="Arial"/>
              <a:buNone/>
            </a:pPr>
            <a:r>
              <a:rPr b="0" i="0" lang="en-US" sz="12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Adaptar procesos, herramientas, KPIs y estimaciones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658368" y="4977384"/>
            <a:ext cx="557700" cy="255900"/>
          </a:xfrm>
          <a:prstGeom prst="roundRect">
            <a:avLst>
              <a:gd fmla="val 32143" name="adj"/>
            </a:avLst>
          </a:prstGeom>
          <a:solidFill>
            <a:srgbClr val="183E69"/>
          </a:solidFill>
          <a:ln cap="flat" cmpd="sng" w="12700">
            <a:solidFill>
              <a:srgbClr val="183E6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5"/>
          <p:cNvSpPr txBox="1"/>
          <p:nvPr/>
        </p:nvSpPr>
        <p:spPr>
          <a:xfrm>
            <a:off x="658368" y="5027676"/>
            <a:ext cx="5577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PLAN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1325880" y="4977384"/>
            <a:ext cx="489300" cy="255900"/>
          </a:xfrm>
          <a:prstGeom prst="roundRect">
            <a:avLst>
              <a:gd fmla="val 32143" name="adj"/>
            </a:avLst>
          </a:prstGeom>
          <a:solidFill>
            <a:srgbClr val="183E69"/>
          </a:solidFill>
          <a:ln cap="flat" cmpd="sng" w="12700">
            <a:solidFill>
              <a:srgbClr val="183E6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5"/>
          <p:cNvSpPr txBox="1"/>
          <p:nvPr/>
        </p:nvSpPr>
        <p:spPr>
          <a:xfrm>
            <a:off x="1325880" y="5027676"/>
            <a:ext cx="4893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1924812" y="4977384"/>
            <a:ext cx="489300" cy="255900"/>
          </a:xfrm>
          <a:prstGeom prst="roundRect">
            <a:avLst>
              <a:gd fmla="val 32143" name="adj"/>
            </a:avLst>
          </a:prstGeom>
          <a:solidFill>
            <a:srgbClr val="183E69"/>
          </a:solidFill>
          <a:ln cap="flat" cmpd="sng" w="12700">
            <a:solidFill>
              <a:srgbClr val="183E6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5"/>
          <p:cNvSpPr txBox="1"/>
          <p:nvPr/>
        </p:nvSpPr>
        <p:spPr>
          <a:xfrm>
            <a:off x="1924812" y="5027676"/>
            <a:ext cx="4893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RSK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2523744" y="4977384"/>
            <a:ext cx="489300" cy="255900"/>
          </a:xfrm>
          <a:prstGeom prst="roundRect">
            <a:avLst>
              <a:gd fmla="val 32143" name="adj"/>
            </a:avLst>
          </a:prstGeom>
          <a:solidFill>
            <a:srgbClr val="183E69"/>
          </a:solidFill>
          <a:ln cap="flat" cmpd="sng" w="12700">
            <a:solidFill>
              <a:srgbClr val="183E6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5"/>
          <p:cNvSpPr txBox="1"/>
          <p:nvPr/>
        </p:nvSpPr>
        <p:spPr>
          <a:xfrm>
            <a:off x="2523744" y="5027676"/>
            <a:ext cx="4893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MPM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3122676" y="4977384"/>
            <a:ext cx="489300" cy="255900"/>
          </a:xfrm>
          <a:prstGeom prst="roundRect">
            <a:avLst>
              <a:gd fmla="val 32143" name="adj"/>
            </a:avLst>
          </a:prstGeom>
          <a:solidFill>
            <a:srgbClr val="183E69"/>
          </a:solidFill>
          <a:ln cap="flat" cmpd="sng" w="12700">
            <a:solidFill>
              <a:srgbClr val="183E6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5"/>
          <p:cNvSpPr txBox="1"/>
          <p:nvPr/>
        </p:nvSpPr>
        <p:spPr>
          <a:xfrm>
            <a:off x="3122676" y="5027676"/>
            <a:ext cx="4893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PAD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3721608" y="4977384"/>
            <a:ext cx="489300" cy="255900"/>
          </a:xfrm>
          <a:prstGeom prst="roundRect">
            <a:avLst>
              <a:gd fmla="val 32143" name="adj"/>
            </a:avLst>
          </a:prstGeom>
          <a:solidFill>
            <a:srgbClr val="183E69"/>
          </a:solidFill>
          <a:ln cap="flat" cmpd="sng" w="12700">
            <a:solidFill>
              <a:srgbClr val="183E6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5"/>
          <p:cNvSpPr txBox="1"/>
          <p:nvPr/>
        </p:nvSpPr>
        <p:spPr>
          <a:xfrm>
            <a:off x="3721608" y="5027676"/>
            <a:ext cx="4893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RDM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658368" y="5452872"/>
            <a:ext cx="5394900" cy="658500"/>
          </a:xfrm>
          <a:prstGeom prst="roundRect">
            <a:avLst>
              <a:gd fmla="val 9722" name="adj"/>
            </a:avLst>
          </a:prstGeom>
          <a:solidFill>
            <a:srgbClr val="FFFFFF"/>
          </a:solidFill>
          <a:ln cap="flat" cmpd="sng" w="15225">
            <a:solidFill>
              <a:srgbClr val="20A4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5"/>
          <p:cNvSpPr txBox="1"/>
          <p:nvPr/>
        </p:nvSpPr>
        <p:spPr>
          <a:xfrm>
            <a:off x="841248" y="5580888"/>
            <a:ext cx="2194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7A50"/>
              </a:buClr>
              <a:buSzPts val="960"/>
              <a:buFont typeface="Arial"/>
              <a:buNone/>
            </a:pPr>
            <a:r>
              <a:rPr b="1" i="0" lang="en-US" sz="960" u="none" cap="none" strike="noStrike">
                <a:solidFill>
                  <a:srgbClr val="1F7A50"/>
                </a:solidFill>
                <a:latin typeface="Arial"/>
                <a:ea typeface="Arial"/>
                <a:cs typeface="Arial"/>
                <a:sym typeface="Arial"/>
              </a:rPr>
              <a:t>📄  ENTREGABLE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5"/>
          <p:cNvSpPr txBox="1"/>
          <p:nvPr/>
        </p:nvSpPr>
        <p:spPr>
          <a:xfrm>
            <a:off x="841248" y="5818632"/>
            <a:ext cx="4892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462C"/>
              </a:buClr>
              <a:buSzPts val="1140"/>
              <a:buFont typeface="Arial"/>
              <a:buNone/>
            </a:pPr>
            <a:r>
              <a:rPr b="1" i="0" lang="en-US" sz="1140" u="none" cap="none" strike="noStrike">
                <a:solidFill>
                  <a:srgbClr val="10462C"/>
                </a:solidFill>
                <a:latin typeface="Arial"/>
                <a:ea typeface="Arial"/>
                <a:cs typeface="Arial"/>
                <a:sym typeface="Arial"/>
              </a:rPr>
              <a:t>Alcance, PAs/Vistas Clave y Matriz de Estimación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5"/>
          <p:cNvSpPr txBox="1"/>
          <p:nvPr/>
        </p:nvSpPr>
        <p:spPr>
          <a:xfrm>
            <a:off x="6995160" y="214884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822A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E5822A"/>
                </a:solidFill>
                <a:latin typeface="Arial"/>
                <a:ea typeface="Arial"/>
                <a:cs typeface="Arial"/>
                <a:sym typeface="Arial"/>
              </a:rPr>
              <a:t>HERRAMIENTAS &amp; TÉCNICAS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5"/>
          <p:cNvSpPr txBox="1"/>
          <p:nvPr/>
        </p:nvSpPr>
        <p:spPr>
          <a:xfrm>
            <a:off x="7059168" y="2542032"/>
            <a:ext cx="1353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A6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3A63"/>
                </a:solidFill>
                <a:latin typeface="Arial"/>
                <a:ea typeface="Arial"/>
                <a:cs typeface="Arial"/>
                <a:sym typeface="Arial"/>
              </a:rPr>
              <a:t>WBS + cronograma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5"/>
          <p:cNvSpPr txBox="1"/>
          <p:nvPr/>
        </p:nvSpPr>
        <p:spPr>
          <a:xfrm>
            <a:off x="8549640" y="2542032"/>
            <a:ext cx="2971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970"/>
              <a:buFont typeface="Arial"/>
              <a:buNone/>
            </a:pPr>
            <a:r>
              <a:rPr b="0" i="0" lang="en-US" sz="9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estructura del plan y responsabilidades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5" name="Google Shape;195;p5"/>
          <p:cNvCxnSpPr/>
          <p:nvPr/>
        </p:nvCxnSpPr>
        <p:spPr>
          <a:xfrm>
            <a:off x="6995160" y="2798064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CFD8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6" name="Google Shape;196;p5"/>
          <p:cNvSpPr txBox="1"/>
          <p:nvPr/>
        </p:nvSpPr>
        <p:spPr>
          <a:xfrm>
            <a:off x="7059168" y="2889504"/>
            <a:ext cx="1353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A6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3A63"/>
                </a:solidFill>
                <a:latin typeface="Arial"/>
                <a:ea typeface="Arial"/>
                <a:cs typeface="Arial"/>
                <a:sym typeface="Arial"/>
              </a:rPr>
              <a:t>PERT / Delphi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5"/>
          <p:cNvSpPr txBox="1"/>
          <p:nvPr/>
        </p:nvSpPr>
        <p:spPr>
          <a:xfrm>
            <a:off x="8549640" y="2889504"/>
            <a:ext cx="2971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970"/>
              <a:buFont typeface="Arial"/>
              <a:buNone/>
            </a:pPr>
            <a:r>
              <a:rPr b="0" i="0" lang="en-US" sz="9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rangos mínimo, máximo y esperado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8" name="Google Shape;198;p5"/>
          <p:cNvCxnSpPr/>
          <p:nvPr/>
        </p:nvCxnSpPr>
        <p:spPr>
          <a:xfrm>
            <a:off x="6995160" y="3145536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CFD8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9" name="Google Shape;199;p5"/>
          <p:cNvSpPr txBox="1"/>
          <p:nvPr/>
        </p:nvSpPr>
        <p:spPr>
          <a:xfrm>
            <a:off x="7059168" y="3236976"/>
            <a:ext cx="1353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A6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3A63"/>
                </a:solidFill>
                <a:latin typeface="Arial"/>
                <a:ea typeface="Arial"/>
                <a:cs typeface="Arial"/>
                <a:sym typeface="Arial"/>
              </a:rPr>
              <a:t>GQM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5"/>
          <p:cNvSpPr txBox="1"/>
          <p:nvPr/>
        </p:nvSpPr>
        <p:spPr>
          <a:xfrm>
            <a:off x="8549640" y="3236976"/>
            <a:ext cx="2971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970"/>
              <a:buFont typeface="Arial"/>
              <a:buNone/>
            </a:pPr>
            <a:r>
              <a:rPr b="0" i="0" lang="en-US" sz="9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objetivo → pregunta → métrica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1" name="Google Shape;201;p5"/>
          <p:cNvCxnSpPr/>
          <p:nvPr/>
        </p:nvCxnSpPr>
        <p:spPr>
          <a:xfrm>
            <a:off x="6995160" y="3493008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CFD8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2" name="Google Shape;202;p5"/>
          <p:cNvSpPr txBox="1"/>
          <p:nvPr/>
        </p:nvSpPr>
        <p:spPr>
          <a:xfrm>
            <a:off x="7059168" y="3584448"/>
            <a:ext cx="1353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A6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3A63"/>
                </a:solidFill>
                <a:latin typeface="Arial"/>
                <a:ea typeface="Arial"/>
                <a:cs typeface="Arial"/>
                <a:sym typeface="Arial"/>
              </a:rPr>
              <a:t>Asset Library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5"/>
          <p:cNvSpPr txBox="1"/>
          <p:nvPr/>
        </p:nvSpPr>
        <p:spPr>
          <a:xfrm>
            <a:off x="8549640" y="3584448"/>
            <a:ext cx="2971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970"/>
              <a:buFont typeface="Arial"/>
              <a:buNone/>
            </a:pPr>
            <a:r>
              <a:rPr b="0" i="0" lang="en-US" sz="9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plantillas, evidencias y repositorio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4" name="Google Shape;204;p5"/>
          <p:cNvCxnSpPr/>
          <p:nvPr/>
        </p:nvCxnSpPr>
        <p:spPr>
          <a:xfrm>
            <a:off x="6995160" y="3840480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CFD8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5" name="Google Shape;205;p5"/>
          <p:cNvSpPr txBox="1"/>
          <p:nvPr/>
        </p:nvSpPr>
        <p:spPr>
          <a:xfrm>
            <a:off x="7059168" y="3931920"/>
            <a:ext cx="1353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A6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3A63"/>
                </a:solidFill>
                <a:latin typeface="Arial"/>
                <a:ea typeface="Arial"/>
                <a:cs typeface="Arial"/>
                <a:sym typeface="Arial"/>
              </a:rPr>
              <a:t>Tailoring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5"/>
          <p:cNvSpPr txBox="1"/>
          <p:nvPr/>
        </p:nvSpPr>
        <p:spPr>
          <a:xfrm>
            <a:off x="8549640" y="3931920"/>
            <a:ext cx="2971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970"/>
              <a:buFont typeface="Arial"/>
              <a:buNone/>
            </a:pPr>
            <a:r>
              <a:rPr b="0" i="0" lang="en-US" sz="9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adaptación a Parajón y Scrum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7" name="Google Shape;207;p5"/>
          <p:cNvCxnSpPr/>
          <p:nvPr/>
        </p:nvCxnSpPr>
        <p:spPr>
          <a:xfrm>
            <a:off x="6995160" y="4187952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CFD8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" name="Google Shape;208;p5"/>
          <p:cNvSpPr/>
          <p:nvPr/>
        </p:nvSpPr>
        <p:spPr>
          <a:xfrm>
            <a:off x="6995160" y="4956048"/>
            <a:ext cx="4206240" cy="804672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10150">
            <a:solidFill>
              <a:srgbClr val="D8E1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5"/>
          <p:cNvSpPr txBox="1"/>
          <p:nvPr/>
        </p:nvSpPr>
        <p:spPr>
          <a:xfrm>
            <a:off x="7196328" y="5074920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822A"/>
              </a:buClr>
              <a:buSzPts val="880"/>
              <a:buFont typeface="Arial"/>
              <a:buNone/>
            </a:pPr>
            <a:r>
              <a:rPr b="1" i="0" lang="en-US" sz="880" u="none" cap="none" strike="noStrike">
                <a:solidFill>
                  <a:srgbClr val="E5822A"/>
                </a:solidFill>
                <a:latin typeface="Arial"/>
                <a:ea typeface="Arial"/>
                <a:cs typeface="Arial"/>
                <a:sym typeface="Arial"/>
              </a:rPr>
              <a:t>ENFOQUE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5"/>
          <p:cNvSpPr txBox="1"/>
          <p:nvPr/>
        </p:nvSpPr>
        <p:spPr>
          <a:xfrm>
            <a:off x="7196328" y="5303520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B49"/>
              </a:buClr>
              <a:buSzPts val="1060"/>
              <a:buFont typeface="Arial"/>
              <a:buNone/>
            </a:pPr>
            <a:r>
              <a:rPr b="1" i="0" lang="en-US" sz="1060" u="none" cap="none" strike="noStrike">
                <a:solidFill>
                  <a:srgbClr val="0F2B49"/>
                </a:solidFill>
                <a:latin typeface="Arial"/>
                <a:ea typeface="Arial"/>
                <a:cs typeface="Arial"/>
                <a:sym typeface="Arial"/>
              </a:rPr>
              <a:t>Convertir brechas en actividades planificadas, medibles y trazables.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5"/>
          <p:cNvSpPr txBox="1"/>
          <p:nvPr/>
        </p:nvSpPr>
        <p:spPr>
          <a:xfrm>
            <a:off x="10881360" y="6510528"/>
            <a:ext cx="7772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C7D4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BBC7D4"/>
                </a:solidFill>
                <a:latin typeface="Arial"/>
                <a:ea typeface="Arial"/>
                <a:cs typeface="Arial"/>
                <a:sym typeface="Arial"/>
              </a:rPr>
              <a:t>Fase 3 de 7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6"/>
          <p:cNvSpPr/>
          <p:nvPr/>
        </p:nvSpPr>
        <p:spPr>
          <a:xfrm>
            <a:off x="0" y="0"/>
            <a:ext cx="12191695" cy="1737360"/>
          </a:xfrm>
          <a:prstGeom prst="rect">
            <a:avLst/>
          </a:prstGeom>
          <a:solidFill>
            <a:srgbClr val="153A63"/>
          </a:solidFill>
          <a:ln cap="flat" cmpd="sng" w="12700">
            <a:solidFill>
              <a:srgbClr val="153A6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6"/>
          <p:cNvSpPr txBox="1"/>
          <p:nvPr/>
        </p:nvSpPr>
        <p:spPr>
          <a:xfrm>
            <a:off x="621792" y="164592"/>
            <a:ext cx="82296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C6D8"/>
              </a:buClr>
              <a:buSzPts val="7000"/>
              <a:buFont typeface="Arial"/>
              <a:buNone/>
            </a:pPr>
            <a:r>
              <a:rPr b="1" i="0" lang="en-US" sz="7000" u="none" cap="none" strike="noStrike">
                <a:solidFill>
                  <a:srgbClr val="B9C6D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7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6"/>
          <p:cNvSpPr txBox="1"/>
          <p:nvPr/>
        </p:nvSpPr>
        <p:spPr>
          <a:xfrm>
            <a:off x="1691640" y="457200"/>
            <a:ext cx="731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🎓</a:t>
            </a:r>
            <a:endParaRPr b="0" i="0" sz="3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6"/>
          <p:cNvSpPr txBox="1"/>
          <p:nvPr/>
        </p:nvSpPr>
        <p:spPr>
          <a:xfrm>
            <a:off x="2926080" y="658368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C9A1"/>
              </a:buClr>
              <a:buSzPts val="1120"/>
              <a:buFont typeface="Arial"/>
              <a:buNone/>
            </a:pPr>
            <a:r>
              <a:rPr b="1" i="0" lang="en-US" sz="1120" u="none" cap="none" strike="noStrike">
                <a:solidFill>
                  <a:srgbClr val="F4C9A1"/>
                </a:solidFill>
                <a:latin typeface="Arial"/>
                <a:ea typeface="Arial"/>
                <a:cs typeface="Arial"/>
                <a:sym typeface="Arial"/>
              </a:rPr>
              <a:t>F O R M A C I Ó N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6"/>
          <p:cNvSpPr txBox="1"/>
          <p:nvPr/>
        </p:nvSpPr>
        <p:spPr>
          <a:xfrm>
            <a:off x="2926080" y="896112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Capacitación y Formación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6"/>
          <p:cNvSpPr txBox="1"/>
          <p:nvPr/>
        </p:nvSpPr>
        <p:spPr>
          <a:xfrm>
            <a:off x="9966960" y="411480"/>
            <a:ext cx="1188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🎓</a:t>
            </a:r>
            <a:endParaRPr b="0" i="0" sz="4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6528816" y="1737360"/>
            <a:ext cx="5662879" cy="5120640"/>
          </a:xfrm>
          <a:prstGeom prst="rect">
            <a:avLst/>
          </a:prstGeom>
          <a:solidFill>
            <a:srgbClr val="F2F6FC"/>
          </a:solidFill>
          <a:ln cap="flat" cmpd="sng" w="12700">
            <a:solidFill>
              <a:srgbClr val="F2F6F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6"/>
          <p:cNvSpPr txBox="1"/>
          <p:nvPr/>
        </p:nvSpPr>
        <p:spPr>
          <a:xfrm>
            <a:off x="658368" y="2148840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822A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E5822A"/>
                </a:solidFill>
                <a:latin typeface="Arial"/>
                <a:ea typeface="Arial"/>
                <a:cs typeface="Arial"/>
                <a:sym typeface="Arial"/>
              </a:rPr>
              <a:t>QUÉ SE HACE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6"/>
          <p:cNvSpPr txBox="1"/>
          <p:nvPr/>
        </p:nvSpPr>
        <p:spPr>
          <a:xfrm>
            <a:off x="685800" y="2560320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5A9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45A91"/>
                </a:solidFill>
                <a:latin typeface="Arial"/>
                <a:ea typeface="Arial"/>
                <a:cs typeface="Arial"/>
                <a:sym typeface="Arial"/>
              </a:rPr>
              <a:t>▸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6"/>
          <p:cNvSpPr txBox="1"/>
          <p:nvPr/>
        </p:nvSpPr>
        <p:spPr>
          <a:xfrm>
            <a:off x="987552" y="2542032"/>
            <a:ext cx="4983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1270"/>
              <a:buFont typeface="Arial"/>
              <a:buNone/>
            </a:pPr>
            <a:r>
              <a:rPr b="0" i="0" lang="en-US" sz="12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Entrenar al equipo en CMMI V3.0 Nivel 2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6"/>
          <p:cNvSpPr txBox="1"/>
          <p:nvPr/>
        </p:nvSpPr>
        <p:spPr>
          <a:xfrm>
            <a:off x="685800" y="2944368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5A9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45A91"/>
                </a:solidFill>
                <a:latin typeface="Arial"/>
                <a:ea typeface="Arial"/>
                <a:cs typeface="Arial"/>
                <a:sym typeface="Arial"/>
              </a:rPr>
              <a:t>▸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6"/>
          <p:cNvSpPr txBox="1"/>
          <p:nvPr/>
        </p:nvSpPr>
        <p:spPr>
          <a:xfrm>
            <a:off x="987552" y="2926080"/>
            <a:ext cx="4983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1270"/>
              <a:buFont typeface="Arial"/>
              <a:buNone/>
            </a:pPr>
            <a:r>
              <a:rPr b="0" i="0" lang="en-US" sz="12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Formar champions de calidad, negocio y Scrum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6"/>
          <p:cNvSpPr txBox="1"/>
          <p:nvPr/>
        </p:nvSpPr>
        <p:spPr>
          <a:xfrm>
            <a:off x="685800" y="3328416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5A9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45A91"/>
                </a:solidFill>
                <a:latin typeface="Arial"/>
                <a:ea typeface="Arial"/>
                <a:cs typeface="Arial"/>
                <a:sym typeface="Arial"/>
              </a:rPr>
              <a:t>▸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6"/>
          <p:cNvSpPr txBox="1"/>
          <p:nvPr/>
        </p:nvSpPr>
        <p:spPr>
          <a:xfrm>
            <a:off x="987552" y="3310128"/>
            <a:ext cx="4983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1270"/>
              <a:buFont typeface="Arial"/>
              <a:buNone/>
            </a:pPr>
            <a:r>
              <a:rPr b="0" i="0" lang="en-US" sz="12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Ejecutar cursos técnicos y metodológicos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6"/>
          <p:cNvSpPr txBox="1"/>
          <p:nvPr/>
        </p:nvSpPr>
        <p:spPr>
          <a:xfrm>
            <a:off x="685800" y="3712464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5A9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45A91"/>
                </a:solidFill>
                <a:latin typeface="Arial"/>
                <a:ea typeface="Arial"/>
                <a:cs typeface="Arial"/>
                <a:sym typeface="Arial"/>
              </a:rPr>
              <a:t>▸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6"/>
          <p:cNvSpPr txBox="1"/>
          <p:nvPr/>
        </p:nvSpPr>
        <p:spPr>
          <a:xfrm>
            <a:off x="987552" y="3694176"/>
            <a:ext cx="4983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1270"/>
              <a:buFont typeface="Arial"/>
              <a:buNone/>
            </a:pPr>
            <a:r>
              <a:rPr b="0" i="0" lang="en-US" sz="12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Evaluar competencias con exámenes y matriz de habilidades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658368" y="3986784"/>
            <a:ext cx="420624" cy="256032"/>
          </a:xfrm>
          <a:prstGeom prst="roundRect">
            <a:avLst>
              <a:gd fmla="val 32143" name="adj"/>
            </a:avLst>
          </a:prstGeom>
          <a:solidFill>
            <a:srgbClr val="183E69"/>
          </a:solidFill>
          <a:ln cap="flat" cmpd="sng" w="12700">
            <a:solidFill>
              <a:srgbClr val="183E6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6"/>
          <p:cNvSpPr txBox="1"/>
          <p:nvPr/>
        </p:nvSpPr>
        <p:spPr>
          <a:xfrm>
            <a:off x="658368" y="4037076"/>
            <a:ext cx="420624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OT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1188720" y="3986784"/>
            <a:ext cx="489204" cy="256032"/>
          </a:xfrm>
          <a:prstGeom prst="roundRect">
            <a:avLst>
              <a:gd fmla="val 32143" name="adj"/>
            </a:avLst>
          </a:prstGeom>
          <a:solidFill>
            <a:srgbClr val="183E69"/>
          </a:solidFill>
          <a:ln cap="flat" cmpd="sng" w="12700">
            <a:solidFill>
              <a:srgbClr val="183E6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6"/>
          <p:cNvSpPr txBox="1"/>
          <p:nvPr/>
        </p:nvSpPr>
        <p:spPr>
          <a:xfrm>
            <a:off x="1188720" y="4037076"/>
            <a:ext cx="489204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PAD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1787652" y="3986784"/>
            <a:ext cx="420624" cy="256032"/>
          </a:xfrm>
          <a:prstGeom prst="roundRect">
            <a:avLst>
              <a:gd fmla="val 32143" name="adj"/>
            </a:avLst>
          </a:prstGeom>
          <a:solidFill>
            <a:srgbClr val="183E69"/>
          </a:solidFill>
          <a:ln cap="flat" cmpd="sng" w="12700">
            <a:solidFill>
              <a:srgbClr val="183E6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6"/>
          <p:cNvSpPr txBox="1"/>
          <p:nvPr/>
        </p:nvSpPr>
        <p:spPr>
          <a:xfrm>
            <a:off x="1787652" y="4037076"/>
            <a:ext cx="420624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II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2318004" y="3986784"/>
            <a:ext cx="489204" cy="256032"/>
          </a:xfrm>
          <a:prstGeom prst="roundRect">
            <a:avLst>
              <a:gd fmla="val 32143" name="adj"/>
            </a:avLst>
          </a:prstGeom>
          <a:solidFill>
            <a:srgbClr val="183E69"/>
          </a:solidFill>
          <a:ln cap="flat" cmpd="sng" w="12700">
            <a:solidFill>
              <a:srgbClr val="183E6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6"/>
          <p:cNvSpPr txBox="1"/>
          <p:nvPr/>
        </p:nvSpPr>
        <p:spPr>
          <a:xfrm>
            <a:off x="2318004" y="4037076"/>
            <a:ext cx="489204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PPL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658368" y="4462272"/>
            <a:ext cx="5394960" cy="658368"/>
          </a:xfrm>
          <a:prstGeom prst="roundRect">
            <a:avLst>
              <a:gd fmla="val 9722" name="adj"/>
            </a:avLst>
          </a:prstGeom>
          <a:solidFill>
            <a:srgbClr val="FFFFFF"/>
          </a:solidFill>
          <a:ln cap="flat" cmpd="sng" w="15225">
            <a:solidFill>
              <a:srgbClr val="20A4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6"/>
          <p:cNvSpPr txBox="1"/>
          <p:nvPr/>
        </p:nvSpPr>
        <p:spPr>
          <a:xfrm>
            <a:off x="841248" y="4590288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7A50"/>
              </a:buClr>
              <a:buSzPts val="960"/>
              <a:buFont typeface="Arial"/>
              <a:buNone/>
            </a:pPr>
            <a:r>
              <a:rPr b="1" i="0" lang="en-US" sz="960" u="none" cap="none" strike="noStrike">
                <a:solidFill>
                  <a:srgbClr val="1F7A50"/>
                </a:solidFill>
                <a:latin typeface="Arial"/>
                <a:ea typeface="Arial"/>
                <a:cs typeface="Arial"/>
                <a:sym typeface="Arial"/>
              </a:rPr>
              <a:t>📄  ENTREGABLE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6"/>
          <p:cNvSpPr txBox="1"/>
          <p:nvPr/>
        </p:nvSpPr>
        <p:spPr>
          <a:xfrm>
            <a:off x="841248" y="4828032"/>
            <a:ext cx="4892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462C"/>
              </a:buClr>
              <a:buSzPts val="1140"/>
              <a:buFont typeface="Arial"/>
              <a:buNone/>
            </a:pPr>
            <a:r>
              <a:rPr b="1" i="0" lang="en-US" sz="1140" u="none" cap="none" strike="noStrike">
                <a:solidFill>
                  <a:srgbClr val="10462C"/>
                </a:solidFill>
                <a:latin typeface="Arial"/>
                <a:ea typeface="Arial"/>
                <a:cs typeface="Arial"/>
                <a:sym typeface="Arial"/>
              </a:rPr>
              <a:t>Plan de Capacitación y Matriz de Competencias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6"/>
          <p:cNvSpPr txBox="1"/>
          <p:nvPr/>
        </p:nvSpPr>
        <p:spPr>
          <a:xfrm>
            <a:off x="6995160" y="214884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822A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E5822A"/>
                </a:solidFill>
                <a:latin typeface="Arial"/>
                <a:ea typeface="Arial"/>
                <a:cs typeface="Arial"/>
                <a:sym typeface="Arial"/>
              </a:rPr>
              <a:t>HERRAMIENTAS &amp; TÉCNICAS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6"/>
          <p:cNvSpPr txBox="1"/>
          <p:nvPr/>
        </p:nvSpPr>
        <p:spPr>
          <a:xfrm>
            <a:off x="7059168" y="2542032"/>
            <a:ext cx="1353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A6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3A63"/>
                </a:solidFill>
                <a:latin typeface="Arial"/>
                <a:ea typeface="Arial"/>
                <a:cs typeface="Arial"/>
                <a:sym typeface="Arial"/>
              </a:rPr>
              <a:t>Skills gap matrix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6"/>
          <p:cNvSpPr txBox="1"/>
          <p:nvPr/>
        </p:nvSpPr>
        <p:spPr>
          <a:xfrm>
            <a:off x="8549640" y="2542032"/>
            <a:ext cx="2971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970"/>
              <a:buFont typeface="Arial"/>
              <a:buNone/>
            </a:pPr>
            <a:r>
              <a:rPr b="0" i="0" lang="en-US" sz="9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rol, competencia y evidencia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7" name="Google Shape;247;p6"/>
          <p:cNvCxnSpPr/>
          <p:nvPr/>
        </p:nvCxnSpPr>
        <p:spPr>
          <a:xfrm>
            <a:off x="6995160" y="2798064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CFD8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8" name="Google Shape;248;p6"/>
          <p:cNvSpPr txBox="1"/>
          <p:nvPr/>
        </p:nvSpPr>
        <p:spPr>
          <a:xfrm>
            <a:off x="7059168" y="2889504"/>
            <a:ext cx="1353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A6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3A63"/>
                </a:solidFill>
                <a:latin typeface="Arial"/>
                <a:ea typeface="Arial"/>
                <a:cs typeface="Arial"/>
                <a:sym typeface="Arial"/>
              </a:rPr>
              <a:t>Curso CMMI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6"/>
          <p:cNvSpPr txBox="1"/>
          <p:nvPr/>
        </p:nvSpPr>
        <p:spPr>
          <a:xfrm>
            <a:off x="8549640" y="2889504"/>
            <a:ext cx="2971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970"/>
              <a:buFont typeface="Arial"/>
              <a:buNone/>
            </a:pPr>
            <a:r>
              <a:rPr b="0" i="0" lang="en-US" sz="9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16 horas en 4 módulos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0" name="Google Shape;250;p6"/>
          <p:cNvCxnSpPr/>
          <p:nvPr/>
        </p:nvCxnSpPr>
        <p:spPr>
          <a:xfrm>
            <a:off x="6995160" y="3145536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CFD8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1" name="Google Shape;251;p6"/>
          <p:cNvSpPr txBox="1"/>
          <p:nvPr/>
        </p:nvSpPr>
        <p:spPr>
          <a:xfrm>
            <a:off x="7059168" y="3236976"/>
            <a:ext cx="1353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A6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3A63"/>
                </a:solidFill>
                <a:latin typeface="Arial"/>
                <a:ea typeface="Arial"/>
                <a:cs typeface="Arial"/>
                <a:sym typeface="Arial"/>
              </a:rPr>
              <a:t>Train-the-trainer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6"/>
          <p:cNvSpPr txBox="1"/>
          <p:nvPr/>
        </p:nvSpPr>
        <p:spPr>
          <a:xfrm>
            <a:off x="8549640" y="3236976"/>
            <a:ext cx="2971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970"/>
              <a:buFont typeface="Arial"/>
              <a:buNone/>
            </a:pPr>
            <a:r>
              <a:rPr b="0" i="0" lang="en-US" sz="9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champions multiplicadores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3" name="Google Shape;253;p6"/>
          <p:cNvCxnSpPr/>
          <p:nvPr/>
        </p:nvCxnSpPr>
        <p:spPr>
          <a:xfrm>
            <a:off x="6995160" y="3493008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CFD8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4" name="Google Shape;254;p6"/>
          <p:cNvSpPr txBox="1"/>
          <p:nvPr/>
        </p:nvSpPr>
        <p:spPr>
          <a:xfrm>
            <a:off x="7059168" y="3584448"/>
            <a:ext cx="1353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A6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3A63"/>
                </a:solidFill>
                <a:latin typeface="Arial"/>
                <a:ea typeface="Arial"/>
                <a:cs typeface="Arial"/>
                <a:sym typeface="Arial"/>
              </a:rPr>
              <a:t>LMS / Wiki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6"/>
          <p:cNvSpPr txBox="1"/>
          <p:nvPr/>
        </p:nvSpPr>
        <p:spPr>
          <a:xfrm>
            <a:off x="8549640" y="3584448"/>
            <a:ext cx="2971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970"/>
              <a:buFont typeface="Arial"/>
              <a:buNone/>
            </a:pPr>
            <a:r>
              <a:rPr b="0" i="0" lang="en-US" sz="9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base de conocimiento institucional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6" name="Google Shape;256;p6"/>
          <p:cNvCxnSpPr/>
          <p:nvPr/>
        </p:nvCxnSpPr>
        <p:spPr>
          <a:xfrm>
            <a:off x="6995160" y="3840480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CFD8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7" name="Google Shape;257;p6"/>
          <p:cNvSpPr txBox="1"/>
          <p:nvPr/>
        </p:nvSpPr>
        <p:spPr>
          <a:xfrm>
            <a:off x="7059168" y="3931920"/>
            <a:ext cx="1353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A6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3A63"/>
                </a:solidFill>
                <a:latin typeface="Arial"/>
                <a:ea typeface="Arial"/>
                <a:cs typeface="Arial"/>
                <a:sym typeface="Arial"/>
              </a:rPr>
              <a:t>Kirkpatrick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6"/>
          <p:cNvSpPr txBox="1"/>
          <p:nvPr/>
        </p:nvSpPr>
        <p:spPr>
          <a:xfrm>
            <a:off x="8549640" y="3931920"/>
            <a:ext cx="2971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970"/>
              <a:buFont typeface="Arial"/>
              <a:buNone/>
            </a:pPr>
            <a:r>
              <a:rPr b="0" i="0" lang="en-US" sz="9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medir aprendizaje y aplicación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9" name="Google Shape;259;p6"/>
          <p:cNvCxnSpPr/>
          <p:nvPr/>
        </p:nvCxnSpPr>
        <p:spPr>
          <a:xfrm>
            <a:off x="6995160" y="4187952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CFD8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0" name="Google Shape;260;p6"/>
          <p:cNvSpPr/>
          <p:nvPr/>
        </p:nvSpPr>
        <p:spPr>
          <a:xfrm>
            <a:off x="6995160" y="4956048"/>
            <a:ext cx="4206240" cy="804672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10150">
            <a:solidFill>
              <a:srgbClr val="D8E1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6"/>
          <p:cNvSpPr txBox="1"/>
          <p:nvPr/>
        </p:nvSpPr>
        <p:spPr>
          <a:xfrm>
            <a:off x="7196328" y="5074920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822A"/>
              </a:buClr>
              <a:buSzPts val="880"/>
              <a:buFont typeface="Arial"/>
              <a:buNone/>
            </a:pPr>
            <a:r>
              <a:rPr b="1" i="0" lang="en-US" sz="880" u="none" cap="none" strike="noStrike">
                <a:solidFill>
                  <a:srgbClr val="E5822A"/>
                </a:solidFill>
                <a:latin typeface="Arial"/>
                <a:ea typeface="Arial"/>
                <a:cs typeface="Arial"/>
                <a:sym typeface="Arial"/>
              </a:rPr>
              <a:t>RESULTADO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6"/>
          <p:cNvSpPr txBox="1"/>
          <p:nvPr/>
        </p:nvSpPr>
        <p:spPr>
          <a:xfrm>
            <a:off x="7196328" y="5303520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B49"/>
              </a:buClr>
              <a:buSzPts val="1060"/>
              <a:buFont typeface="Arial"/>
              <a:buNone/>
            </a:pPr>
            <a:r>
              <a:rPr b="1" i="0" lang="en-US" sz="1060" u="none" cap="none" strike="noStrike">
                <a:solidFill>
                  <a:srgbClr val="0F2B49"/>
                </a:solidFill>
                <a:latin typeface="Arial"/>
                <a:ea typeface="Arial"/>
                <a:cs typeface="Arial"/>
                <a:sym typeface="Arial"/>
              </a:rPr>
              <a:t>Capital humano preparado para sostener procesos gestionados.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6"/>
          <p:cNvSpPr txBox="1"/>
          <p:nvPr/>
        </p:nvSpPr>
        <p:spPr>
          <a:xfrm>
            <a:off x="10881360" y="6510528"/>
            <a:ext cx="7772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C7D4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BBC7D4"/>
                </a:solidFill>
                <a:latin typeface="Arial"/>
                <a:ea typeface="Arial"/>
                <a:cs typeface="Arial"/>
                <a:sym typeface="Arial"/>
              </a:rPr>
              <a:t>Fase 4 de 7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7"/>
          <p:cNvSpPr/>
          <p:nvPr/>
        </p:nvSpPr>
        <p:spPr>
          <a:xfrm>
            <a:off x="0" y="0"/>
            <a:ext cx="12191695" cy="1737360"/>
          </a:xfrm>
          <a:prstGeom prst="rect">
            <a:avLst/>
          </a:prstGeom>
          <a:solidFill>
            <a:srgbClr val="153A63"/>
          </a:solidFill>
          <a:ln cap="flat" cmpd="sng" w="12700">
            <a:solidFill>
              <a:srgbClr val="153A6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7"/>
          <p:cNvSpPr txBox="1"/>
          <p:nvPr/>
        </p:nvSpPr>
        <p:spPr>
          <a:xfrm>
            <a:off x="621792" y="164592"/>
            <a:ext cx="82296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C6D8"/>
              </a:buClr>
              <a:buSzPts val="7000"/>
              <a:buFont typeface="Arial"/>
              <a:buNone/>
            </a:pPr>
            <a:r>
              <a:rPr b="1" i="0" lang="en-US" sz="7000" u="none" cap="none" strike="noStrike">
                <a:solidFill>
                  <a:srgbClr val="B9C6D8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7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7"/>
          <p:cNvSpPr txBox="1"/>
          <p:nvPr/>
        </p:nvSpPr>
        <p:spPr>
          <a:xfrm>
            <a:off x="1691640" y="457200"/>
            <a:ext cx="731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🚀</a:t>
            </a:r>
            <a:endParaRPr b="0" i="0" sz="3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7"/>
          <p:cNvSpPr txBox="1"/>
          <p:nvPr/>
        </p:nvSpPr>
        <p:spPr>
          <a:xfrm>
            <a:off x="2926080" y="658368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C9A1"/>
              </a:buClr>
              <a:buSzPts val="1120"/>
              <a:buFont typeface="Arial"/>
              <a:buNone/>
            </a:pPr>
            <a:r>
              <a:rPr b="1" i="0" lang="en-US" sz="1120" u="none" cap="none" strike="noStrike">
                <a:solidFill>
                  <a:srgbClr val="F4C9A1"/>
                </a:solidFill>
                <a:latin typeface="Arial"/>
                <a:ea typeface="Arial"/>
                <a:cs typeface="Arial"/>
                <a:sym typeface="Arial"/>
              </a:rPr>
              <a:t>E J E C U C I Ó N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7"/>
          <p:cNvSpPr txBox="1"/>
          <p:nvPr/>
        </p:nvSpPr>
        <p:spPr>
          <a:xfrm>
            <a:off x="2926080" y="896112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Despliegue y Ejecución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7"/>
          <p:cNvSpPr txBox="1"/>
          <p:nvPr/>
        </p:nvSpPr>
        <p:spPr>
          <a:xfrm>
            <a:off x="9966960" y="411480"/>
            <a:ext cx="1188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⚙️</a:t>
            </a:r>
            <a:endParaRPr b="0" i="0" sz="4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6528816" y="1737360"/>
            <a:ext cx="5662879" cy="5120640"/>
          </a:xfrm>
          <a:prstGeom prst="rect">
            <a:avLst/>
          </a:prstGeom>
          <a:solidFill>
            <a:srgbClr val="F2F6FC"/>
          </a:solidFill>
          <a:ln cap="flat" cmpd="sng" w="12700">
            <a:solidFill>
              <a:srgbClr val="F2F6F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7"/>
          <p:cNvSpPr txBox="1"/>
          <p:nvPr/>
        </p:nvSpPr>
        <p:spPr>
          <a:xfrm>
            <a:off x="658368" y="2148840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822A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E5822A"/>
                </a:solidFill>
                <a:latin typeface="Arial"/>
                <a:ea typeface="Arial"/>
                <a:cs typeface="Arial"/>
                <a:sym typeface="Arial"/>
              </a:rPr>
              <a:t>QUÉ SE HACE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7"/>
          <p:cNvSpPr txBox="1"/>
          <p:nvPr/>
        </p:nvSpPr>
        <p:spPr>
          <a:xfrm>
            <a:off x="685800" y="2560320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5A9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45A91"/>
                </a:solidFill>
                <a:latin typeface="Arial"/>
                <a:ea typeface="Arial"/>
                <a:cs typeface="Arial"/>
                <a:sym typeface="Arial"/>
              </a:rPr>
              <a:t>▸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7"/>
          <p:cNvSpPr txBox="1"/>
          <p:nvPr/>
        </p:nvSpPr>
        <p:spPr>
          <a:xfrm>
            <a:off x="987552" y="2542032"/>
            <a:ext cx="4983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1270"/>
              <a:buFont typeface="Arial"/>
              <a:buNone/>
            </a:pPr>
            <a:r>
              <a:rPr b="0" i="0" lang="en-US" sz="12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Implementar el piloto en el módulo de ventas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7"/>
          <p:cNvSpPr txBox="1"/>
          <p:nvPr/>
        </p:nvSpPr>
        <p:spPr>
          <a:xfrm>
            <a:off x="685800" y="2944368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5A9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45A91"/>
                </a:solidFill>
                <a:latin typeface="Arial"/>
                <a:ea typeface="Arial"/>
                <a:cs typeface="Arial"/>
                <a:sym typeface="Arial"/>
              </a:rPr>
              <a:t>▸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7"/>
          <p:cNvSpPr txBox="1"/>
          <p:nvPr/>
        </p:nvSpPr>
        <p:spPr>
          <a:xfrm>
            <a:off x="987552" y="2926080"/>
            <a:ext cx="4983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1270"/>
              <a:buFont typeface="Arial"/>
              <a:buNone/>
            </a:pPr>
            <a:r>
              <a:rPr b="0" i="0" lang="en-US" sz="12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Recopilar métricas desde el primer sprint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7"/>
          <p:cNvSpPr txBox="1"/>
          <p:nvPr/>
        </p:nvSpPr>
        <p:spPr>
          <a:xfrm>
            <a:off x="685800" y="3328416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5A9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45A91"/>
                </a:solidFill>
                <a:latin typeface="Arial"/>
                <a:ea typeface="Arial"/>
                <a:cs typeface="Arial"/>
                <a:sym typeface="Arial"/>
              </a:rPr>
              <a:t>▸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7"/>
          <p:cNvSpPr txBox="1"/>
          <p:nvPr/>
        </p:nvSpPr>
        <p:spPr>
          <a:xfrm>
            <a:off x="987552" y="3310128"/>
            <a:ext cx="4983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1270"/>
              <a:buFont typeface="Arial"/>
              <a:buNone/>
            </a:pPr>
            <a:r>
              <a:rPr b="0" i="0" lang="en-US" sz="12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Automatizar logs, dashboard y cálculo de KPIs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7"/>
          <p:cNvSpPr txBox="1"/>
          <p:nvPr/>
        </p:nvSpPr>
        <p:spPr>
          <a:xfrm>
            <a:off x="685800" y="3712464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5A9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45A91"/>
                </a:solidFill>
                <a:latin typeface="Arial"/>
                <a:ea typeface="Arial"/>
                <a:cs typeface="Arial"/>
                <a:sym typeface="Arial"/>
              </a:rPr>
              <a:t>▸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7"/>
          <p:cNvSpPr txBox="1"/>
          <p:nvPr/>
        </p:nvSpPr>
        <p:spPr>
          <a:xfrm>
            <a:off x="987552" y="3694176"/>
            <a:ext cx="4983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1270"/>
              <a:buFont typeface="Arial"/>
              <a:buNone/>
            </a:pPr>
            <a:r>
              <a:rPr b="0" i="0" lang="en-US" sz="12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Institucionalizar revisiones y acciones correctivas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7"/>
          <p:cNvSpPr/>
          <p:nvPr/>
        </p:nvSpPr>
        <p:spPr>
          <a:xfrm>
            <a:off x="658368" y="3986784"/>
            <a:ext cx="420624" cy="256032"/>
          </a:xfrm>
          <a:prstGeom prst="roundRect">
            <a:avLst>
              <a:gd fmla="val 32143" name="adj"/>
            </a:avLst>
          </a:prstGeom>
          <a:solidFill>
            <a:srgbClr val="183E69"/>
          </a:solidFill>
          <a:ln cap="flat" cmpd="sng" w="12700">
            <a:solidFill>
              <a:srgbClr val="183E6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7"/>
          <p:cNvSpPr txBox="1"/>
          <p:nvPr/>
        </p:nvSpPr>
        <p:spPr>
          <a:xfrm>
            <a:off x="658368" y="4037076"/>
            <a:ext cx="420624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7"/>
          <p:cNvSpPr/>
          <p:nvPr/>
        </p:nvSpPr>
        <p:spPr>
          <a:xfrm>
            <a:off x="1188720" y="3986784"/>
            <a:ext cx="420624" cy="256032"/>
          </a:xfrm>
          <a:prstGeom prst="roundRect">
            <a:avLst>
              <a:gd fmla="val 32143" name="adj"/>
            </a:avLst>
          </a:prstGeom>
          <a:solidFill>
            <a:srgbClr val="183E69"/>
          </a:solidFill>
          <a:ln cap="flat" cmpd="sng" w="12700">
            <a:solidFill>
              <a:srgbClr val="183E6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7"/>
          <p:cNvSpPr txBox="1"/>
          <p:nvPr/>
        </p:nvSpPr>
        <p:spPr>
          <a:xfrm>
            <a:off x="1188720" y="4037076"/>
            <a:ext cx="420624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CM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7"/>
          <p:cNvSpPr/>
          <p:nvPr/>
        </p:nvSpPr>
        <p:spPr>
          <a:xfrm>
            <a:off x="1719072" y="3986784"/>
            <a:ext cx="420624" cy="256032"/>
          </a:xfrm>
          <a:prstGeom prst="roundRect">
            <a:avLst>
              <a:gd fmla="val 32143" name="adj"/>
            </a:avLst>
          </a:prstGeom>
          <a:solidFill>
            <a:srgbClr val="183E69"/>
          </a:solidFill>
          <a:ln cap="flat" cmpd="sng" w="12700">
            <a:solidFill>
              <a:srgbClr val="183E6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7"/>
          <p:cNvSpPr txBox="1"/>
          <p:nvPr/>
        </p:nvSpPr>
        <p:spPr>
          <a:xfrm>
            <a:off x="1719072" y="4037076"/>
            <a:ext cx="420624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TS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7"/>
          <p:cNvSpPr/>
          <p:nvPr/>
        </p:nvSpPr>
        <p:spPr>
          <a:xfrm>
            <a:off x="2249424" y="3986784"/>
            <a:ext cx="420624" cy="256032"/>
          </a:xfrm>
          <a:prstGeom prst="roundRect">
            <a:avLst>
              <a:gd fmla="val 32143" name="adj"/>
            </a:avLst>
          </a:prstGeom>
          <a:solidFill>
            <a:srgbClr val="183E69"/>
          </a:solidFill>
          <a:ln cap="flat" cmpd="sng" w="12700">
            <a:solidFill>
              <a:srgbClr val="183E6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7"/>
          <p:cNvSpPr txBox="1"/>
          <p:nvPr/>
        </p:nvSpPr>
        <p:spPr>
          <a:xfrm>
            <a:off x="2249424" y="4037076"/>
            <a:ext cx="420624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7"/>
          <p:cNvSpPr/>
          <p:nvPr/>
        </p:nvSpPr>
        <p:spPr>
          <a:xfrm>
            <a:off x="2779776" y="3986784"/>
            <a:ext cx="489204" cy="256032"/>
          </a:xfrm>
          <a:prstGeom prst="roundRect">
            <a:avLst>
              <a:gd fmla="val 32143" name="adj"/>
            </a:avLst>
          </a:prstGeom>
          <a:solidFill>
            <a:srgbClr val="183E69"/>
          </a:solidFill>
          <a:ln cap="flat" cmpd="sng" w="12700">
            <a:solidFill>
              <a:srgbClr val="183E6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7"/>
          <p:cNvSpPr txBox="1"/>
          <p:nvPr/>
        </p:nvSpPr>
        <p:spPr>
          <a:xfrm>
            <a:off x="2779776" y="4037076"/>
            <a:ext cx="489204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RDM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7"/>
          <p:cNvSpPr/>
          <p:nvPr/>
        </p:nvSpPr>
        <p:spPr>
          <a:xfrm>
            <a:off x="3378708" y="3986784"/>
            <a:ext cx="489204" cy="256032"/>
          </a:xfrm>
          <a:prstGeom prst="roundRect">
            <a:avLst>
              <a:gd fmla="val 32143" name="adj"/>
            </a:avLst>
          </a:prstGeom>
          <a:solidFill>
            <a:srgbClr val="183E69"/>
          </a:solidFill>
          <a:ln cap="flat" cmpd="sng" w="12700">
            <a:solidFill>
              <a:srgbClr val="183E6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7"/>
          <p:cNvSpPr txBox="1"/>
          <p:nvPr/>
        </p:nvSpPr>
        <p:spPr>
          <a:xfrm>
            <a:off x="3378708" y="4037076"/>
            <a:ext cx="489204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MPM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7"/>
          <p:cNvSpPr/>
          <p:nvPr/>
        </p:nvSpPr>
        <p:spPr>
          <a:xfrm>
            <a:off x="658368" y="4462272"/>
            <a:ext cx="5394960" cy="658368"/>
          </a:xfrm>
          <a:prstGeom prst="roundRect">
            <a:avLst>
              <a:gd fmla="val 9722" name="adj"/>
            </a:avLst>
          </a:prstGeom>
          <a:solidFill>
            <a:srgbClr val="FFFFFF"/>
          </a:solidFill>
          <a:ln cap="flat" cmpd="sng" w="15225">
            <a:solidFill>
              <a:srgbClr val="20A4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7"/>
          <p:cNvSpPr txBox="1"/>
          <p:nvPr/>
        </p:nvSpPr>
        <p:spPr>
          <a:xfrm>
            <a:off x="841248" y="4590288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7A50"/>
              </a:buClr>
              <a:buSzPts val="960"/>
              <a:buFont typeface="Arial"/>
              <a:buNone/>
            </a:pPr>
            <a:r>
              <a:rPr b="1" i="0" lang="en-US" sz="960" u="none" cap="none" strike="noStrike">
                <a:solidFill>
                  <a:srgbClr val="1F7A50"/>
                </a:solidFill>
                <a:latin typeface="Arial"/>
                <a:ea typeface="Arial"/>
                <a:cs typeface="Arial"/>
                <a:sym typeface="Arial"/>
              </a:rPr>
              <a:t>📄  ENTREGABLE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7"/>
          <p:cNvSpPr txBox="1"/>
          <p:nvPr/>
        </p:nvSpPr>
        <p:spPr>
          <a:xfrm>
            <a:off x="841248" y="4828032"/>
            <a:ext cx="4892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462C"/>
              </a:buClr>
              <a:buSzPts val="1140"/>
              <a:buFont typeface="Arial"/>
              <a:buNone/>
            </a:pPr>
            <a:r>
              <a:rPr b="1" i="0" lang="en-US" sz="1140" u="none" cap="none" strike="noStrike">
                <a:solidFill>
                  <a:srgbClr val="10462C"/>
                </a:solidFill>
                <a:latin typeface="Arial"/>
                <a:ea typeface="Arial"/>
                <a:cs typeface="Arial"/>
                <a:sym typeface="Arial"/>
              </a:rPr>
              <a:t>Procesos Piloto y Resultados de Medición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7"/>
          <p:cNvSpPr txBox="1"/>
          <p:nvPr/>
        </p:nvSpPr>
        <p:spPr>
          <a:xfrm>
            <a:off x="6995160" y="214884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822A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E5822A"/>
                </a:solidFill>
                <a:latin typeface="Arial"/>
                <a:ea typeface="Arial"/>
                <a:cs typeface="Arial"/>
                <a:sym typeface="Arial"/>
              </a:rPr>
              <a:t>HERRAMIENTAS &amp; TÉCNICAS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7"/>
          <p:cNvSpPr txBox="1"/>
          <p:nvPr/>
        </p:nvSpPr>
        <p:spPr>
          <a:xfrm>
            <a:off x="7059168" y="2542032"/>
            <a:ext cx="1353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A6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3A63"/>
                </a:solidFill>
                <a:latin typeface="Arial"/>
                <a:ea typeface="Arial"/>
                <a:cs typeface="Arial"/>
                <a:sym typeface="Arial"/>
              </a:rPr>
              <a:t>Proyecto piloto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7"/>
          <p:cNvSpPr txBox="1"/>
          <p:nvPr/>
        </p:nvSpPr>
        <p:spPr>
          <a:xfrm>
            <a:off x="8549640" y="2542032"/>
            <a:ext cx="2971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970"/>
              <a:buFont typeface="Arial"/>
              <a:buNone/>
            </a:pPr>
            <a:r>
              <a:rPr b="0" i="0" lang="en-US" sz="9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ventas como primera unidad controlada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8" name="Google Shape;308;p7"/>
          <p:cNvCxnSpPr/>
          <p:nvPr/>
        </p:nvCxnSpPr>
        <p:spPr>
          <a:xfrm>
            <a:off x="6995160" y="2798064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CFD8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9" name="Google Shape;309;p7"/>
          <p:cNvSpPr txBox="1"/>
          <p:nvPr/>
        </p:nvSpPr>
        <p:spPr>
          <a:xfrm>
            <a:off x="7059168" y="2889504"/>
            <a:ext cx="1353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A6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3A63"/>
                </a:solidFill>
                <a:latin typeface="Arial"/>
                <a:ea typeface="Arial"/>
                <a:cs typeface="Arial"/>
                <a:sym typeface="Arial"/>
              </a:rPr>
              <a:t>Dashboard KPI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7"/>
          <p:cNvSpPr txBox="1"/>
          <p:nvPr/>
        </p:nvSpPr>
        <p:spPr>
          <a:xfrm>
            <a:off x="8549640" y="2889504"/>
            <a:ext cx="2971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970"/>
              <a:buFont typeface="Arial"/>
              <a:buNone/>
            </a:pPr>
            <a:r>
              <a:rPr b="0" i="0" lang="en-US" sz="9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/dashboard-metrics y /api/metrics/lineabase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1" name="Google Shape;311;p7"/>
          <p:cNvCxnSpPr/>
          <p:nvPr/>
        </p:nvCxnSpPr>
        <p:spPr>
          <a:xfrm>
            <a:off x="6995160" y="3145536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CFD8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2" name="Google Shape;312;p7"/>
          <p:cNvSpPr txBox="1"/>
          <p:nvPr/>
        </p:nvSpPr>
        <p:spPr>
          <a:xfrm>
            <a:off x="7059168" y="3236976"/>
            <a:ext cx="1353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A6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3A63"/>
                </a:solidFill>
                <a:latin typeface="Arial"/>
                <a:ea typeface="Arial"/>
                <a:cs typeface="Arial"/>
                <a:sym typeface="Arial"/>
              </a:rPr>
              <a:t>CI/CD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7"/>
          <p:cNvSpPr txBox="1"/>
          <p:nvPr/>
        </p:nvSpPr>
        <p:spPr>
          <a:xfrm>
            <a:off x="8549640" y="3236976"/>
            <a:ext cx="2971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970"/>
              <a:buFont typeface="Arial"/>
              <a:buNone/>
            </a:pPr>
            <a:r>
              <a:rPr b="0" i="0" lang="en-US" sz="9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automatizar pruebas y despliegue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4" name="Google Shape;314;p7"/>
          <p:cNvCxnSpPr/>
          <p:nvPr/>
        </p:nvCxnSpPr>
        <p:spPr>
          <a:xfrm>
            <a:off x="6995160" y="3493008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CFD8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5" name="Google Shape;315;p7"/>
          <p:cNvSpPr txBox="1"/>
          <p:nvPr/>
        </p:nvSpPr>
        <p:spPr>
          <a:xfrm>
            <a:off x="7059168" y="3584448"/>
            <a:ext cx="1353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A6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3A63"/>
                </a:solidFill>
                <a:latin typeface="Arial"/>
                <a:ea typeface="Arial"/>
                <a:cs typeface="Arial"/>
                <a:sym typeface="Arial"/>
              </a:rPr>
              <a:t>Control versiones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7"/>
          <p:cNvSpPr txBox="1"/>
          <p:nvPr/>
        </p:nvSpPr>
        <p:spPr>
          <a:xfrm>
            <a:off x="8549640" y="3584448"/>
            <a:ext cx="2971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970"/>
              <a:buFont typeface="Arial"/>
              <a:buNone/>
            </a:pPr>
            <a:r>
              <a:rPr b="0" i="0" lang="en-US" sz="9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políticas de ramas, baseline y respaldo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7" name="Google Shape;317;p7"/>
          <p:cNvCxnSpPr/>
          <p:nvPr/>
        </p:nvCxnSpPr>
        <p:spPr>
          <a:xfrm>
            <a:off x="6995160" y="3840480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CFD8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8" name="Google Shape;318;p7"/>
          <p:cNvSpPr txBox="1"/>
          <p:nvPr/>
        </p:nvSpPr>
        <p:spPr>
          <a:xfrm>
            <a:off x="7059168" y="3931920"/>
            <a:ext cx="1353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A6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3A63"/>
                </a:solidFill>
                <a:latin typeface="Arial"/>
                <a:ea typeface="Arial"/>
                <a:cs typeface="Arial"/>
                <a:sym typeface="Arial"/>
              </a:rPr>
              <a:t>Status reviews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7"/>
          <p:cNvSpPr txBox="1"/>
          <p:nvPr/>
        </p:nvSpPr>
        <p:spPr>
          <a:xfrm>
            <a:off x="8549640" y="3931920"/>
            <a:ext cx="2971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545"/>
              </a:buClr>
              <a:buSzPts val="970"/>
              <a:buFont typeface="Arial"/>
              <a:buNone/>
            </a:pPr>
            <a:r>
              <a:rPr b="0" i="0" lang="en-US" sz="970" u="none" cap="none" strike="noStrike">
                <a:solidFill>
                  <a:srgbClr val="2A3545"/>
                </a:solidFill>
                <a:latin typeface="Arial"/>
                <a:ea typeface="Arial"/>
                <a:cs typeface="Arial"/>
                <a:sym typeface="Arial"/>
              </a:rPr>
              <a:t>seguimiento quincenal del plan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0" name="Google Shape;320;p7"/>
          <p:cNvCxnSpPr/>
          <p:nvPr/>
        </p:nvCxnSpPr>
        <p:spPr>
          <a:xfrm>
            <a:off x="6995160" y="4187952"/>
            <a:ext cx="4572000" cy="0"/>
          </a:xfrm>
          <a:prstGeom prst="straightConnector1">
            <a:avLst/>
          </a:prstGeom>
          <a:noFill/>
          <a:ln cap="flat" cmpd="sng" w="9525">
            <a:solidFill>
              <a:srgbClr val="CFD8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1" name="Google Shape;321;p7"/>
          <p:cNvSpPr/>
          <p:nvPr/>
        </p:nvSpPr>
        <p:spPr>
          <a:xfrm>
            <a:off x="6995160" y="4956048"/>
            <a:ext cx="4206240" cy="804672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10150">
            <a:solidFill>
              <a:srgbClr val="D8E1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7"/>
          <p:cNvSpPr txBox="1"/>
          <p:nvPr/>
        </p:nvSpPr>
        <p:spPr>
          <a:xfrm>
            <a:off x="7196328" y="5074920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822A"/>
              </a:buClr>
              <a:buSzPts val="880"/>
              <a:buFont typeface="Arial"/>
              <a:buNone/>
            </a:pPr>
            <a:r>
              <a:rPr b="1" i="0" lang="en-US" sz="880" u="none" cap="none" strike="noStrike">
                <a:solidFill>
                  <a:srgbClr val="E5822A"/>
                </a:solidFill>
                <a:latin typeface="Arial"/>
                <a:ea typeface="Arial"/>
                <a:cs typeface="Arial"/>
                <a:sym typeface="Arial"/>
              </a:rPr>
              <a:t>AUTOMATIZACIÓN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7"/>
          <p:cNvSpPr txBox="1"/>
          <p:nvPr/>
        </p:nvSpPr>
        <p:spPr>
          <a:xfrm>
            <a:off x="7196328" y="5303520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B49"/>
              </a:buClr>
              <a:buSzPts val="1060"/>
              <a:buFont typeface="Arial"/>
              <a:buNone/>
            </a:pPr>
            <a:r>
              <a:rPr b="1" i="0" lang="en-US" sz="1060" u="none" cap="none" strike="noStrike">
                <a:solidFill>
                  <a:srgbClr val="0F2B49"/>
                </a:solidFill>
                <a:latin typeface="Arial"/>
                <a:ea typeface="Arial"/>
                <a:cs typeface="Arial"/>
                <a:sym typeface="Arial"/>
              </a:rPr>
              <a:t>Logs → cron job → tabla de métricas → dashboard gerencial.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7"/>
          <p:cNvSpPr txBox="1"/>
          <p:nvPr/>
        </p:nvSpPr>
        <p:spPr>
          <a:xfrm>
            <a:off x="10881360" y="6510528"/>
            <a:ext cx="7772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C7D4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BBC7D4"/>
                </a:solidFill>
                <a:latin typeface="Arial"/>
                <a:ea typeface="Arial"/>
                <a:cs typeface="Arial"/>
                <a:sym typeface="Arial"/>
              </a:rPr>
              <a:t>Fase 5 de 7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B49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0"/>
          <p:cNvSpPr txBox="1"/>
          <p:nvPr/>
        </p:nvSpPr>
        <p:spPr>
          <a:xfrm>
            <a:off x="3127248" y="1261872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es una línea recta, es un ciclo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0"/>
          <p:cNvSpPr txBox="1"/>
          <p:nvPr/>
        </p:nvSpPr>
        <p:spPr>
          <a:xfrm>
            <a:off x="5632704" y="2139696"/>
            <a:ext cx="822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🔄</a:t>
            </a:r>
            <a:endParaRPr b="0" i="0" sz="4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0"/>
          <p:cNvSpPr txBox="1"/>
          <p:nvPr/>
        </p:nvSpPr>
        <p:spPr>
          <a:xfrm>
            <a:off x="3127248" y="3172968"/>
            <a:ext cx="5943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3F1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D6E3F1"/>
                </a:solidFill>
                <a:latin typeface="Arial"/>
                <a:ea typeface="Arial"/>
                <a:cs typeface="Arial"/>
                <a:sym typeface="Arial"/>
              </a:rPr>
              <a:t>La Fase 7 retro-alimenta a la Fase 1: Las métricas, auditorías y lecciones aprendidas generan un nuevo diagnóstico sobre una organización más madura.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3083350" y="4113424"/>
            <a:ext cx="1099500" cy="256800"/>
          </a:xfrm>
          <a:prstGeom prst="roundRect">
            <a:avLst>
              <a:gd fmla="val 28000" name="adj"/>
            </a:avLst>
          </a:prstGeom>
          <a:solidFill>
            <a:srgbClr val="314C6D"/>
          </a:solidFill>
          <a:ln cap="flat" cmpd="sng" w="10700">
            <a:solidFill>
              <a:srgbClr val="516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725" lIns="102725" spcFirstLastPara="1" rIns="102725" wrap="square" tIns="102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0"/>
          <p:cNvSpPr txBox="1"/>
          <p:nvPr/>
        </p:nvSpPr>
        <p:spPr>
          <a:xfrm>
            <a:off x="3114174" y="4175074"/>
            <a:ext cx="1037700" cy="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CE7F3"/>
              </a:buClr>
              <a:buSzPts val="649"/>
              <a:buFont typeface="Arial"/>
              <a:buNone/>
            </a:pPr>
            <a:r>
              <a:rPr b="0" i="0" lang="en-US" sz="949" u="none" cap="none" strike="noStrike">
                <a:solidFill>
                  <a:srgbClr val="DCE7F3"/>
                </a:solidFill>
                <a:latin typeface="Arial"/>
                <a:ea typeface="Arial"/>
                <a:cs typeface="Arial"/>
                <a:sym typeface="Arial"/>
              </a:rPr>
              <a:t>Gobierno</a:t>
            </a:r>
            <a:endParaRPr b="0" i="0" sz="94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0"/>
          <p:cNvSpPr/>
          <p:nvPr/>
        </p:nvSpPr>
        <p:spPr>
          <a:xfrm>
            <a:off x="4316324" y="4113424"/>
            <a:ext cx="1099500" cy="256800"/>
          </a:xfrm>
          <a:prstGeom prst="roundRect">
            <a:avLst>
              <a:gd fmla="val 28000" name="adj"/>
            </a:avLst>
          </a:prstGeom>
          <a:solidFill>
            <a:srgbClr val="314C6D"/>
          </a:solidFill>
          <a:ln cap="flat" cmpd="sng" w="10700">
            <a:solidFill>
              <a:srgbClr val="516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725" lIns="102725" spcFirstLastPara="1" rIns="102725" wrap="square" tIns="102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0"/>
          <p:cNvSpPr txBox="1"/>
          <p:nvPr/>
        </p:nvSpPr>
        <p:spPr>
          <a:xfrm>
            <a:off x="4347149" y="4175074"/>
            <a:ext cx="1037700" cy="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CE7F3"/>
              </a:buClr>
              <a:buSzPts val="649"/>
              <a:buFont typeface="Arial"/>
              <a:buNone/>
            </a:pPr>
            <a:r>
              <a:rPr b="0" i="0" lang="en-US" sz="949" u="none" cap="none" strike="noStrike">
                <a:solidFill>
                  <a:srgbClr val="DCE7F3"/>
                </a:solidFill>
                <a:latin typeface="Arial"/>
                <a:ea typeface="Arial"/>
                <a:cs typeface="Arial"/>
                <a:sym typeface="Arial"/>
              </a:rPr>
              <a:t>Medición</a:t>
            </a:r>
            <a:endParaRPr b="0" i="0" sz="94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0"/>
          <p:cNvSpPr/>
          <p:nvPr/>
        </p:nvSpPr>
        <p:spPr>
          <a:xfrm>
            <a:off x="5549299" y="4113424"/>
            <a:ext cx="1099500" cy="256800"/>
          </a:xfrm>
          <a:prstGeom prst="roundRect">
            <a:avLst>
              <a:gd fmla="val 28000" name="adj"/>
            </a:avLst>
          </a:prstGeom>
          <a:solidFill>
            <a:srgbClr val="314C6D"/>
          </a:solidFill>
          <a:ln cap="flat" cmpd="sng" w="10700">
            <a:solidFill>
              <a:srgbClr val="516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725" lIns="102725" spcFirstLastPara="1" rIns="102725" wrap="square" tIns="102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0"/>
          <p:cNvSpPr txBox="1"/>
          <p:nvPr/>
        </p:nvSpPr>
        <p:spPr>
          <a:xfrm>
            <a:off x="5580123" y="4175074"/>
            <a:ext cx="1037700" cy="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CE7F3"/>
              </a:buClr>
              <a:buSzPts val="649"/>
              <a:buFont typeface="Arial"/>
              <a:buNone/>
            </a:pPr>
            <a:r>
              <a:rPr b="0" i="0" lang="en-US" sz="949" u="none" cap="none" strike="noStrike">
                <a:solidFill>
                  <a:srgbClr val="DCE7F3"/>
                </a:solidFill>
                <a:latin typeface="Arial"/>
                <a:ea typeface="Arial"/>
                <a:cs typeface="Arial"/>
                <a:sym typeface="Arial"/>
              </a:rPr>
              <a:t>Verificación</a:t>
            </a:r>
            <a:endParaRPr b="0" i="0" sz="94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0"/>
          <p:cNvSpPr/>
          <p:nvPr/>
        </p:nvSpPr>
        <p:spPr>
          <a:xfrm>
            <a:off x="6782273" y="4113424"/>
            <a:ext cx="1099500" cy="256800"/>
          </a:xfrm>
          <a:prstGeom prst="roundRect">
            <a:avLst>
              <a:gd fmla="val 28000" name="adj"/>
            </a:avLst>
          </a:prstGeom>
          <a:solidFill>
            <a:srgbClr val="314C6D"/>
          </a:solidFill>
          <a:ln cap="flat" cmpd="sng" w="10700">
            <a:solidFill>
              <a:srgbClr val="516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725" lIns="102725" spcFirstLastPara="1" rIns="102725" wrap="square" tIns="102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0"/>
          <p:cNvSpPr txBox="1"/>
          <p:nvPr/>
        </p:nvSpPr>
        <p:spPr>
          <a:xfrm>
            <a:off x="6813097" y="4175074"/>
            <a:ext cx="1037700" cy="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CE7F3"/>
              </a:buClr>
              <a:buSzPts val="649"/>
              <a:buFont typeface="Arial"/>
              <a:buNone/>
            </a:pPr>
            <a:r>
              <a:rPr b="0" i="0" lang="en-US" sz="949" u="none" cap="none" strike="noStrike">
                <a:solidFill>
                  <a:srgbClr val="DCE7F3"/>
                </a:solidFill>
                <a:latin typeface="Arial"/>
                <a:ea typeface="Arial"/>
                <a:cs typeface="Arial"/>
                <a:sym typeface="Arial"/>
              </a:rPr>
              <a:t>Aprendizaje</a:t>
            </a:r>
            <a:endParaRPr b="0" i="0" sz="94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0"/>
          <p:cNvSpPr/>
          <p:nvPr/>
        </p:nvSpPr>
        <p:spPr>
          <a:xfrm>
            <a:off x="8015248" y="4113424"/>
            <a:ext cx="1099500" cy="256800"/>
          </a:xfrm>
          <a:prstGeom prst="roundRect">
            <a:avLst>
              <a:gd fmla="val 28000" name="adj"/>
            </a:avLst>
          </a:prstGeom>
          <a:solidFill>
            <a:srgbClr val="314C6D"/>
          </a:solidFill>
          <a:ln cap="flat" cmpd="sng" w="10700">
            <a:solidFill>
              <a:srgbClr val="516E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725" lIns="102725" spcFirstLastPara="1" rIns="102725" wrap="square" tIns="102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0"/>
          <p:cNvSpPr txBox="1"/>
          <p:nvPr/>
        </p:nvSpPr>
        <p:spPr>
          <a:xfrm>
            <a:off x="8046072" y="4175074"/>
            <a:ext cx="1037700" cy="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CE7F3"/>
              </a:buClr>
              <a:buSzPts val="649"/>
              <a:buFont typeface="Arial"/>
              <a:buNone/>
            </a:pPr>
            <a:r>
              <a:rPr b="0" i="0" lang="en-US" sz="949" u="none" cap="none" strike="noStrike">
                <a:solidFill>
                  <a:srgbClr val="DCE7F3"/>
                </a:solidFill>
                <a:latin typeface="Arial"/>
                <a:ea typeface="Arial"/>
                <a:cs typeface="Arial"/>
                <a:sym typeface="Arial"/>
              </a:rPr>
              <a:t>Innovación</a:t>
            </a:r>
            <a:endParaRPr b="0" i="0" sz="94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0"/>
          <p:cNvSpPr txBox="1"/>
          <p:nvPr/>
        </p:nvSpPr>
        <p:spPr>
          <a:xfrm>
            <a:off x="9509760" y="6492240"/>
            <a:ext cx="21031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CADC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B8CADC"/>
                </a:solidFill>
                <a:latin typeface="Arial"/>
                <a:ea typeface="Arial"/>
                <a:cs typeface="Arial"/>
                <a:sym typeface="Arial"/>
              </a:rPr>
              <a:t>CMMI® V3.0 · Material explicativo adaptado del informe Word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2026-06-20T04:59:43Z</dcterms:created>
  <dc:creator>OpenAI</dc:creator>
</cp:coreProperties>
</file>