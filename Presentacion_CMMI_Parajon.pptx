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IcVqEBkxGgZQhjBQb15H7Cslj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19e8fe72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19e8fe72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f19e8fe72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A6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0" y="685800"/>
            <a:ext cx="3044952" cy="73152"/>
          </a:xfrm>
          <a:prstGeom prst="rect">
            <a:avLst/>
          </a:prstGeom>
          <a:solidFill>
            <a:srgbClr val="E5822A"/>
          </a:solidFill>
          <a:ln cap="flat" cmpd="sng" w="12700">
            <a:solidFill>
              <a:srgbClr val="E58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ocx_unzip/word/media/image1.png" id="17" name="Google Shape;17;p1"/>
          <p:cNvPicPr preferRelativeResize="0"/>
          <p:nvPr/>
        </p:nvPicPr>
        <p:blipFill rotWithShape="1">
          <a:blip r:embed="rId3">
            <a:alphaModFix amt="98000"/>
          </a:blip>
          <a:srcRect b="0" l="0" r="0" t="0"/>
          <a:stretch/>
        </p:blipFill>
        <p:spPr>
          <a:xfrm>
            <a:off x="502920" y="384048"/>
            <a:ext cx="1143000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 txBox="1"/>
          <p:nvPr/>
        </p:nvSpPr>
        <p:spPr>
          <a:xfrm>
            <a:off x="2834640" y="2029968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Ruta Metodológica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2240280" y="2523744"/>
            <a:ext cx="77724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CMMI V3.0 · Proyecto Parajón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2103120" y="3182112"/>
            <a:ext cx="8001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E2F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8E2F0"/>
                </a:solidFill>
                <a:latin typeface="Arial"/>
                <a:ea typeface="Arial"/>
                <a:cs typeface="Arial"/>
                <a:sym typeface="Arial"/>
              </a:rPr>
              <a:t>Sistema Web para el control de ventas y distribución de calzado artesanal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773168" y="3730752"/>
            <a:ext cx="2651760" cy="320040"/>
          </a:xfrm>
          <a:prstGeom prst="roundRect">
            <a:avLst>
              <a:gd fmla="val 22857" name="adj"/>
            </a:avLst>
          </a:prstGeom>
          <a:solidFill>
            <a:srgbClr val="E5822A"/>
          </a:solidFill>
          <a:ln cap="flat" cmpd="sng" w="12700">
            <a:solidFill>
              <a:srgbClr val="E58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 txBox="1"/>
          <p:nvPr/>
        </p:nvSpPr>
        <p:spPr>
          <a:xfrm>
            <a:off x="4937760" y="3803904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Basado en CMMI® V3.0 - Nivel 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3657600" y="6355080"/>
            <a:ext cx="4873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ADC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8CADC"/>
                </a:solidFill>
                <a:latin typeface="Arial"/>
                <a:ea typeface="Arial"/>
                <a:cs typeface="Arial"/>
                <a:sym typeface="Arial"/>
              </a:rPr>
              <a:t>Ingeniería de Software 2 · Grupo 5S1-COM-S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 txBox="1"/>
          <p:nvPr/>
        </p:nvSpPr>
        <p:spPr>
          <a:xfrm>
            <a:off x="658368" y="47548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658368" y="768096"/>
            <a:ext cx="7223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Conceptos base del modelo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58368" y="1417320"/>
            <a:ext cx="859536" cy="73152"/>
          </a:xfrm>
          <a:prstGeom prst="roundRect">
            <a:avLst>
              <a:gd fmla="val 50000" name="adj"/>
            </a:avLst>
          </a:prstGeom>
          <a:solidFill>
            <a:srgbClr val="E5822A"/>
          </a:solidFill>
          <a:ln cap="flat" cmpd="sng" w="12700">
            <a:solidFill>
              <a:srgbClr val="E58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58368" y="1874520"/>
            <a:ext cx="5303520" cy="169164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1270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58368" y="1874520"/>
            <a:ext cx="73152" cy="1691640"/>
          </a:xfrm>
          <a:prstGeom prst="rect">
            <a:avLst/>
          </a:prstGeom>
          <a:solidFill>
            <a:srgbClr val="245A91"/>
          </a:solidFill>
          <a:ln cap="flat" cmpd="sng" w="12700">
            <a:solidFill>
              <a:srgbClr val="245A9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978408" y="2075688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🪟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978408" y="2770632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Vista &amp; Dominio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978408" y="3118104"/>
            <a:ext cx="4617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86B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4A586B"/>
                </a:solidFill>
                <a:latin typeface="Arial"/>
                <a:ea typeface="Arial"/>
                <a:cs typeface="Arial"/>
                <a:sym typeface="Arial"/>
              </a:rPr>
              <a:t>Ventana para enfocar lo importante: DEV, SVC, PPL y áreas clave de mejora.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236208" y="1874520"/>
            <a:ext cx="5303520" cy="169164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1270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236208" y="1874520"/>
            <a:ext cx="73152" cy="1691640"/>
          </a:xfrm>
          <a:prstGeom prst="rect">
            <a:avLst/>
          </a:prstGeom>
          <a:solidFill>
            <a:srgbClr val="E5822A"/>
          </a:solidFill>
          <a:ln cap="flat" cmpd="sng" w="12700">
            <a:solidFill>
              <a:srgbClr val="E58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6556248" y="2075688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🧩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6556248" y="2770632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Áreas de Práctica (PA)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6556248" y="3118104"/>
            <a:ext cx="4617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86B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4A586B"/>
                </a:solidFill>
                <a:latin typeface="Arial"/>
                <a:ea typeface="Arial"/>
                <a:cs typeface="Arial"/>
                <a:sym typeface="Arial"/>
              </a:rPr>
              <a:t>Conjunto de prácticas con intención, valor de negocio y evidencia objetiva.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58368" y="4160520"/>
            <a:ext cx="5303520" cy="169164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1270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58368" y="4160520"/>
            <a:ext cx="73152" cy="1691640"/>
          </a:xfrm>
          <a:prstGeom prst="rect">
            <a:avLst/>
          </a:prstGeom>
          <a:solidFill>
            <a:srgbClr val="E5822A"/>
          </a:solidFill>
          <a:ln cap="flat" cmpd="sng" w="12700">
            <a:solidFill>
              <a:srgbClr val="E58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 txBox="1"/>
          <p:nvPr/>
        </p:nvSpPr>
        <p:spPr>
          <a:xfrm>
            <a:off x="978408" y="4361688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🔀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978408" y="5056632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4 Categorías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978408" y="5404104"/>
            <a:ext cx="4617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86B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4A586B"/>
                </a:solidFill>
                <a:latin typeface="Arial"/>
                <a:ea typeface="Arial"/>
                <a:cs typeface="Arial"/>
                <a:sym typeface="Arial"/>
              </a:rPr>
              <a:t>Doing · Managing · Enabling · Improving: camino natural de mejora.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236208" y="4160520"/>
            <a:ext cx="5303520" cy="169164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1270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236208" y="4160520"/>
            <a:ext cx="73152" cy="1691640"/>
          </a:xfrm>
          <a:prstGeom prst="rect">
            <a:avLst/>
          </a:prstGeom>
          <a:solidFill>
            <a:srgbClr val="245A91"/>
          </a:solidFill>
          <a:ln cap="flat" cmpd="sng" w="12700">
            <a:solidFill>
              <a:srgbClr val="245A9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6556248" y="4361688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6556248" y="5056632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Nivel de Madurez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6556248" y="5404104"/>
            <a:ext cx="4617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86B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4A586B"/>
                </a:solidFill>
                <a:latin typeface="Arial"/>
                <a:ea typeface="Arial"/>
                <a:cs typeface="Arial"/>
                <a:sym typeface="Arial"/>
              </a:rPr>
              <a:t>Meta académica: avanzar hacia CMMI Nivel 2, con procesos gestionados y medibles.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9326880" y="651052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B5C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B5C5"/>
                </a:solidFill>
                <a:latin typeface="Arial"/>
                <a:ea typeface="Arial"/>
                <a:cs typeface="Arial"/>
                <a:sym typeface="Arial"/>
              </a:rPr>
              <a:t>CMMI Performance Solutions V3.0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153A63"/>
          </a:solidFill>
          <a:ln cap="flat" cmpd="sng" w="12700">
            <a:solidFill>
              <a:srgbClr val="153A6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 txBox="1"/>
          <p:nvPr/>
        </p:nvSpPr>
        <p:spPr>
          <a:xfrm>
            <a:off x="621792" y="164592"/>
            <a:ext cx="822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6D8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B9C6D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1691640" y="45720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🔍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2926080" y="65836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9A1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F4C9A1"/>
                </a:solidFill>
                <a:latin typeface="Arial"/>
                <a:ea typeface="Arial"/>
                <a:cs typeface="Arial"/>
                <a:sym typeface="Arial"/>
              </a:rPr>
              <a:t>I N I C I O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2926080" y="896112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Diagnóstico Inicial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9966960" y="41148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📊🔎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528816" y="1737360"/>
            <a:ext cx="5662879" cy="5120640"/>
          </a:xfrm>
          <a:prstGeom prst="rect">
            <a:avLst/>
          </a:prstGeom>
          <a:solidFill>
            <a:srgbClr val="F2F6FC"/>
          </a:solidFill>
          <a:ln cap="flat" cmpd="sng" w="12700">
            <a:solidFill>
              <a:srgbClr val="F2F6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 txBox="1"/>
          <p:nvPr/>
        </p:nvSpPr>
        <p:spPr>
          <a:xfrm>
            <a:off x="658368" y="2148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QUÉ SE HACE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685800" y="256032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987552" y="2542032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Definir misión y objetivos estratégicos de Parajón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685800" y="294436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987552" y="2926080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Aplicar FODA, riesgos, interesados e Ishikawa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685800" y="3328416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987552" y="3310128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Identificar brechas vs. CMMI V3.0 Nivel 2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685800" y="3712464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987552" y="3694176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Establecer línea base: 8 KPIs y plan de acción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58368" y="3986784"/>
            <a:ext cx="55778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 txBox="1"/>
          <p:nvPr/>
        </p:nvSpPr>
        <p:spPr>
          <a:xfrm>
            <a:off x="658368" y="4037076"/>
            <a:ext cx="55778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REQM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25880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1325880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PP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856232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 txBox="1"/>
          <p:nvPr/>
        </p:nvSpPr>
        <p:spPr>
          <a:xfrm>
            <a:off x="1856232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PMC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455164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2455164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985516" y="3986784"/>
            <a:ext cx="55778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2985516" y="4037076"/>
            <a:ext cx="55778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PPQA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653028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 txBox="1"/>
          <p:nvPr/>
        </p:nvSpPr>
        <p:spPr>
          <a:xfrm>
            <a:off x="3653028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58368" y="4462272"/>
            <a:ext cx="539496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5225">
            <a:solidFill>
              <a:srgbClr val="20A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 txBox="1"/>
          <p:nvPr/>
        </p:nvSpPr>
        <p:spPr>
          <a:xfrm>
            <a:off x="841248" y="4590288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5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1F7A50"/>
                </a:solidFill>
                <a:latin typeface="Arial"/>
                <a:ea typeface="Arial"/>
                <a:cs typeface="Arial"/>
                <a:sym typeface="Arial"/>
              </a:rPr>
              <a:t>📄  ENTREGABLE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841248" y="4828032"/>
            <a:ext cx="4892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462C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10462C"/>
                </a:solidFill>
                <a:latin typeface="Arial"/>
                <a:ea typeface="Arial"/>
                <a:cs typeface="Arial"/>
                <a:sym typeface="Arial"/>
              </a:rPr>
              <a:t>Informe de Diagnóstico CMMI-F1 y Plan de Acción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6995160" y="21488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HERRAMIENTAS &amp; TÉCNICAS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7059168" y="2542032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Gap Analysis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8549640" y="2542032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DEV, SVC y PPL con brechas priorizadas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3"/>
          <p:cNvCxnSpPr/>
          <p:nvPr/>
        </p:nvCxnSpPr>
        <p:spPr>
          <a:xfrm>
            <a:off x="6995160" y="2798064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3"/>
          <p:cNvSpPr txBox="1"/>
          <p:nvPr/>
        </p:nvSpPr>
        <p:spPr>
          <a:xfrm>
            <a:off x="7059168" y="288950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FODA / Riesgos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8549640" y="2889504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aceptación, inventario, seguridad y continuidad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3"/>
          <p:cNvCxnSpPr/>
          <p:nvPr/>
        </p:nvCxnSpPr>
        <p:spPr>
          <a:xfrm>
            <a:off x="6995160" y="3145536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3"/>
          <p:cNvSpPr txBox="1"/>
          <p:nvPr/>
        </p:nvSpPr>
        <p:spPr>
          <a:xfrm>
            <a:off x="7059168" y="3236976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Ishikawa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8549640" y="3236976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personas, procesos, tecnología, información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3"/>
          <p:cNvCxnSpPr/>
          <p:nvPr/>
        </p:nvCxnSpPr>
        <p:spPr>
          <a:xfrm>
            <a:off x="6995160" y="3493008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3"/>
          <p:cNvSpPr txBox="1"/>
          <p:nvPr/>
        </p:nvSpPr>
        <p:spPr>
          <a:xfrm>
            <a:off x="7059168" y="3584448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Baseline KPIs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8549640" y="3584448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2.8 s, 99.5%, 26/26 RF, 27/27 pruebas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3"/>
          <p:cNvCxnSpPr/>
          <p:nvPr/>
        </p:nvCxnSpPr>
        <p:spPr>
          <a:xfrm>
            <a:off x="6995160" y="3840480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3"/>
          <p:cNvSpPr txBox="1"/>
          <p:nvPr/>
        </p:nvSpPr>
        <p:spPr>
          <a:xfrm>
            <a:off x="7059168" y="3931920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Plan PERT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8549640" y="3931920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acciones a corto, mediano y largo plazo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3"/>
          <p:cNvCxnSpPr/>
          <p:nvPr/>
        </p:nvCxnSpPr>
        <p:spPr>
          <a:xfrm>
            <a:off x="6995160" y="4187952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3"/>
          <p:cNvSpPr/>
          <p:nvPr/>
        </p:nvSpPr>
        <p:spPr>
          <a:xfrm>
            <a:off x="6995160" y="4956048"/>
            <a:ext cx="420624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7196328" y="507492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HALLAZGO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7196328" y="530352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1060"/>
              <a:buFont typeface="Arial"/>
              <a:buNone/>
            </a:pPr>
            <a:r>
              <a:rPr b="1" i="0" lang="en-US" sz="106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Base técnica sólida; brechas principales son de gestión y formalización.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0881360" y="6510528"/>
            <a:ext cx="777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BC7D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BC7D4"/>
                </a:solidFill>
                <a:latin typeface="Arial"/>
                <a:ea typeface="Arial"/>
                <a:cs typeface="Arial"/>
                <a:sym typeface="Arial"/>
              </a:rPr>
              <a:t>Fase 1 de 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153A63"/>
          </a:solidFill>
          <a:ln cap="flat" cmpd="sng" w="12700">
            <a:solidFill>
              <a:srgbClr val="153A6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621792" y="164592"/>
            <a:ext cx="822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6D8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B9C6D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691640" y="45720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🤝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2926080" y="65836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9A1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F4C9A1"/>
                </a:solidFill>
                <a:latin typeface="Arial"/>
                <a:ea typeface="Arial"/>
                <a:cs typeface="Arial"/>
                <a:sym typeface="Arial"/>
              </a:rPr>
              <a:t>L I D E R A Z G O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2926080" y="896112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Compromiso y Liderazgo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9966960" y="41148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👥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528816" y="1737360"/>
            <a:ext cx="5662879" cy="5120640"/>
          </a:xfrm>
          <a:prstGeom prst="rect">
            <a:avLst/>
          </a:prstGeom>
          <a:solidFill>
            <a:srgbClr val="F2F6FC"/>
          </a:solidFill>
          <a:ln cap="flat" cmpd="sng" w="12700">
            <a:solidFill>
              <a:srgbClr val="F2F6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658368" y="2148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QUÉ SE HACE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685800" y="256032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987552" y="2542032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Formalizar patrocinio con gerencia y docente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685800" y="294436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987552" y="2926080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Conformar el Comité de Dirección de Calidad (CDC)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685800" y="3328416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987552" y="3310128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Asignar recursos, presupuesto y responsabilidades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685800" y="3712464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987552" y="3694176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Comunicar visión de mejora continua a interesados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58368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658368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GOV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257300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1257300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II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787652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1787652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318004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2318004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PPL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58368" y="4462272"/>
            <a:ext cx="539496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5225">
            <a:solidFill>
              <a:srgbClr val="20A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841248" y="4590288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5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1F7A50"/>
                </a:solidFill>
                <a:latin typeface="Arial"/>
                <a:ea typeface="Arial"/>
                <a:cs typeface="Arial"/>
                <a:sym typeface="Arial"/>
              </a:rPr>
              <a:t>📄  ENTREGABLE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841248" y="4828032"/>
            <a:ext cx="4892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462C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10462C"/>
                </a:solidFill>
                <a:latin typeface="Arial"/>
                <a:ea typeface="Arial"/>
                <a:cs typeface="Arial"/>
                <a:sym typeface="Arial"/>
              </a:rPr>
              <a:t>Plan de Comunicación, CDC y Acta de Compromiso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6995160" y="21488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HERRAMIENTAS &amp; TÉCNICAS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7059168" y="2542032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Sponsorship Charter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8549640" y="2542032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acta de compromiso firmada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4"/>
          <p:cNvCxnSpPr/>
          <p:nvPr/>
        </p:nvCxnSpPr>
        <p:spPr>
          <a:xfrm>
            <a:off x="6995160" y="2798064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4"/>
          <p:cNvSpPr txBox="1"/>
          <p:nvPr/>
        </p:nvSpPr>
        <p:spPr>
          <a:xfrm>
            <a:off x="7059168" y="288950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CDC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8549640" y="2889504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roles definidos y gobierno de la mejora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4"/>
          <p:cNvCxnSpPr/>
          <p:nvPr/>
        </p:nvCxnSpPr>
        <p:spPr>
          <a:xfrm>
            <a:off x="6995160" y="3145536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4"/>
          <p:cNvSpPr txBox="1"/>
          <p:nvPr/>
        </p:nvSpPr>
        <p:spPr>
          <a:xfrm>
            <a:off x="7059168" y="3236976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Matriz RACI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8549640" y="3236976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responsables de calidad, negocio y Scrum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4"/>
          <p:cNvCxnSpPr/>
          <p:nvPr/>
        </p:nvCxnSpPr>
        <p:spPr>
          <a:xfrm>
            <a:off x="6995160" y="3493008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4"/>
          <p:cNvSpPr txBox="1"/>
          <p:nvPr/>
        </p:nvSpPr>
        <p:spPr>
          <a:xfrm>
            <a:off x="7059168" y="3584448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Plan de comunicación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8549640" y="3584448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mensajes clave y evidencias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4"/>
          <p:cNvCxnSpPr/>
          <p:nvPr/>
        </p:nvCxnSpPr>
        <p:spPr>
          <a:xfrm>
            <a:off x="6995160" y="3840480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4"/>
          <p:cNvSpPr txBox="1"/>
          <p:nvPr/>
        </p:nvSpPr>
        <p:spPr>
          <a:xfrm>
            <a:off x="7059168" y="3931920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Business Case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8549640" y="3931920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inversión en procesos formalizados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4"/>
          <p:cNvCxnSpPr/>
          <p:nvPr/>
        </p:nvCxnSpPr>
        <p:spPr>
          <a:xfrm>
            <a:off x="6995160" y="4187952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4"/>
          <p:cNvSpPr/>
          <p:nvPr/>
        </p:nvSpPr>
        <p:spPr>
          <a:xfrm>
            <a:off x="6995160" y="4956048"/>
            <a:ext cx="420624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7196328" y="507492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7196328" y="530352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1060"/>
              <a:buFont typeface="Arial"/>
              <a:buNone/>
            </a:pPr>
            <a:r>
              <a:rPr b="1" i="0" lang="en-US" sz="106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Pasar de “diagnóstico” a decisiones ejecutivas con recursos y liderazgo.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10881360" y="6510528"/>
            <a:ext cx="777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BC7D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BC7D4"/>
                </a:solidFill>
                <a:latin typeface="Arial"/>
                <a:ea typeface="Arial"/>
                <a:cs typeface="Arial"/>
                <a:sym typeface="Arial"/>
              </a:rPr>
              <a:t>Fase 2 de 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153A63"/>
          </a:solidFill>
          <a:ln cap="flat" cmpd="sng" w="12700">
            <a:solidFill>
              <a:srgbClr val="153A6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621792" y="164592"/>
            <a:ext cx="822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6D8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B9C6D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1691640" y="45720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📐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2926080" y="65836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9A1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F4C9A1"/>
                </a:solidFill>
                <a:latin typeface="Arial"/>
                <a:ea typeface="Arial"/>
                <a:cs typeface="Arial"/>
                <a:sym typeface="Arial"/>
              </a:rPr>
              <a:t>D I S E Ñ O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2926080" y="896112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Planificación y Diseño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9966960" y="41148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📝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528816" y="1737360"/>
            <a:ext cx="5662879" cy="5120640"/>
          </a:xfrm>
          <a:prstGeom prst="rect">
            <a:avLst/>
          </a:prstGeom>
          <a:solidFill>
            <a:srgbClr val="F2F6FC"/>
          </a:solidFill>
          <a:ln cap="flat" cmpd="sng" w="12700">
            <a:solidFill>
              <a:srgbClr val="F2F6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658368" y="2148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QUÉ SE HACE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685800" y="256032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987552" y="2542032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Definir alcance funcional y exclusiones del sistema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685800" y="294436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987552" y="2926080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Priorizar el módulo de ventas como piloto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685800" y="3328416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987552" y="3310128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Seleccionar PAs: PP, PMC, REQM, MA, PPQA y CM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685800" y="3712464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987552" y="3694176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Adaptar procesos, herramientas, KPIs y estimaciones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58368" y="3986784"/>
            <a:ext cx="55778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658368" y="4037076"/>
            <a:ext cx="55778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1325880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1325880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924812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1924812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RSK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2523744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2523744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MPM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122676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3122676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721608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3721608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RDM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58368" y="4462272"/>
            <a:ext cx="539496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5225">
            <a:solidFill>
              <a:srgbClr val="20A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841248" y="4590288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5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1F7A50"/>
                </a:solidFill>
                <a:latin typeface="Arial"/>
                <a:ea typeface="Arial"/>
                <a:cs typeface="Arial"/>
                <a:sym typeface="Arial"/>
              </a:rPr>
              <a:t>📄  ENTREGABLE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841248" y="4828032"/>
            <a:ext cx="4892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462C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10462C"/>
                </a:solidFill>
                <a:latin typeface="Arial"/>
                <a:ea typeface="Arial"/>
                <a:cs typeface="Arial"/>
                <a:sym typeface="Arial"/>
              </a:rPr>
              <a:t>Alcance, PAs/Vistas Clave y Matriz de Estimación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6995160" y="21488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HERRAMIENTAS &amp; TÉCNICAS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7059168" y="2542032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WBS + cronograma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549640" y="2542032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estructura del plan y responsabilidades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5"/>
          <p:cNvCxnSpPr/>
          <p:nvPr/>
        </p:nvCxnSpPr>
        <p:spPr>
          <a:xfrm>
            <a:off x="6995160" y="2798064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5"/>
          <p:cNvSpPr txBox="1"/>
          <p:nvPr/>
        </p:nvSpPr>
        <p:spPr>
          <a:xfrm>
            <a:off x="7059168" y="288950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PERT / Delphi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8549640" y="2889504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rangos mínimo, máximo y esperado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5"/>
          <p:cNvCxnSpPr/>
          <p:nvPr/>
        </p:nvCxnSpPr>
        <p:spPr>
          <a:xfrm>
            <a:off x="6995160" y="3145536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5"/>
          <p:cNvSpPr txBox="1"/>
          <p:nvPr/>
        </p:nvSpPr>
        <p:spPr>
          <a:xfrm>
            <a:off x="7059168" y="3236976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GQM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8549640" y="3236976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objetivo → pregunta → métrica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5"/>
          <p:cNvCxnSpPr/>
          <p:nvPr/>
        </p:nvCxnSpPr>
        <p:spPr>
          <a:xfrm>
            <a:off x="6995160" y="3493008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5"/>
          <p:cNvSpPr txBox="1"/>
          <p:nvPr/>
        </p:nvSpPr>
        <p:spPr>
          <a:xfrm>
            <a:off x="7059168" y="3584448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Asset Library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8549640" y="3584448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plantillas, evidencias y repositorio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5"/>
          <p:cNvCxnSpPr/>
          <p:nvPr/>
        </p:nvCxnSpPr>
        <p:spPr>
          <a:xfrm>
            <a:off x="6995160" y="3840480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5"/>
          <p:cNvSpPr txBox="1"/>
          <p:nvPr/>
        </p:nvSpPr>
        <p:spPr>
          <a:xfrm>
            <a:off x="7059168" y="3931920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Tailoring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8549640" y="3931920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adaptación a Parajón y Scrum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5"/>
          <p:cNvCxnSpPr/>
          <p:nvPr/>
        </p:nvCxnSpPr>
        <p:spPr>
          <a:xfrm>
            <a:off x="6995160" y="4187952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5"/>
          <p:cNvSpPr/>
          <p:nvPr/>
        </p:nvSpPr>
        <p:spPr>
          <a:xfrm>
            <a:off x="6995160" y="4956048"/>
            <a:ext cx="420624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7196328" y="507492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ENFOQUE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7196328" y="530352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1060"/>
              <a:buFont typeface="Arial"/>
              <a:buNone/>
            </a:pPr>
            <a:r>
              <a:rPr b="1" i="0" lang="en-US" sz="106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Convertir brechas en actividades planificadas, medibles y trazables.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10881360" y="6510528"/>
            <a:ext cx="777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BC7D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BC7D4"/>
                </a:solidFill>
                <a:latin typeface="Arial"/>
                <a:ea typeface="Arial"/>
                <a:cs typeface="Arial"/>
                <a:sym typeface="Arial"/>
              </a:rPr>
              <a:t>Fase 3 de 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153A63"/>
          </a:solidFill>
          <a:ln cap="flat" cmpd="sng" w="12700">
            <a:solidFill>
              <a:srgbClr val="153A6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621792" y="164592"/>
            <a:ext cx="822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6D8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B9C6D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1691640" y="45720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🎓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2926080" y="65836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9A1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F4C9A1"/>
                </a:solidFill>
                <a:latin typeface="Arial"/>
                <a:ea typeface="Arial"/>
                <a:cs typeface="Arial"/>
                <a:sym typeface="Arial"/>
              </a:rPr>
              <a:t>F O R M A C I Ó N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2926080" y="896112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Capacitación y Formación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9966960" y="41148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🎓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528816" y="1737360"/>
            <a:ext cx="5662879" cy="5120640"/>
          </a:xfrm>
          <a:prstGeom prst="rect">
            <a:avLst/>
          </a:prstGeom>
          <a:solidFill>
            <a:srgbClr val="F2F6FC"/>
          </a:solidFill>
          <a:ln cap="flat" cmpd="sng" w="12700">
            <a:solidFill>
              <a:srgbClr val="F2F6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658368" y="2148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QUÉ SE HACE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685800" y="256032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987552" y="2542032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Entrenar al equipo en CMMI V3.0 Nivel 2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685800" y="294436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987552" y="2926080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Formar champions de calidad, negocio y Scrum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685800" y="3328416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987552" y="3310128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Ejecutar cursos técnicos y metodológicos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685800" y="3712464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987552" y="3694176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Evaluar competencias con exámenes y matriz de habilidades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58368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658368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1188720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1188720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1787652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1787652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II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2318004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2318004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PPL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658368" y="4462272"/>
            <a:ext cx="539496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5225">
            <a:solidFill>
              <a:srgbClr val="20A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841248" y="4590288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5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1F7A50"/>
                </a:solidFill>
                <a:latin typeface="Arial"/>
                <a:ea typeface="Arial"/>
                <a:cs typeface="Arial"/>
                <a:sym typeface="Arial"/>
              </a:rPr>
              <a:t>📄  ENTREGABLE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841248" y="4828032"/>
            <a:ext cx="4892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462C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10462C"/>
                </a:solidFill>
                <a:latin typeface="Arial"/>
                <a:ea typeface="Arial"/>
                <a:cs typeface="Arial"/>
                <a:sym typeface="Arial"/>
              </a:rPr>
              <a:t>Plan de Capacitación y Matriz de Competencias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6995160" y="21488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HERRAMIENTAS &amp; TÉCNICAS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7059168" y="2542032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Skills gap matrix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8549640" y="2542032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rol, competencia y evidencia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6"/>
          <p:cNvCxnSpPr/>
          <p:nvPr/>
        </p:nvCxnSpPr>
        <p:spPr>
          <a:xfrm>
            <a:off x="6995160" y="2798064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6"/>
          <p:cNvSpPr txBox="1"/>
          <p:nvPr/>
        </p:nvSpPr>
        <p:spPr>
          <a:xfrm>
            <a:off x="7059168" y="288950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Curso CMMI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8549640" y="2889504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16 horas en 4 módulos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6"/>
          <p:cNvCxnSpPr/>
          <p:nvPr/>
        </p:nvCxnSpPr>
        <p:spPr>
          <a:xfrm>
            <a:off x="6995160" y="3145536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6"/>
          <p:cNvSpPr txBox="1"/>
          <p:nvPr/>
        </p:nvSpPr>
        <p:spPr>
          <a:xfrm>
            <a:off x="7059168" y="3236976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Train-the-trainer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 txBox="1"/>
          <p:nvPr/>
        </p:nvSpPr>
        <p:spPr>
          <a:xfrm>
            <a:off x="8549640" y="3236976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champions multiplicadores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6"/>
          <p:cNvCxnSpPr/>
          <p:nvPr/>
        </p:nvCxnSpPr>
        <p:spPr>
          <a:xfrm>
            <a:off x="6995160" y="3493008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6"/>
          <p:cNvSpPr txBox="1"/>
          <p:nvPr/>
        </p:nvSpPr>
        <p:spPr>
          <a:xfrm>
            <a:off x="7059168" y="3584448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LMS / Wiki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8549640" y="3584448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base de conocimiento institucional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6"/>
          <p:cNvCxnSpPr/>
          <p:nvPr/>
        </p:nvCxnSpPr>
        <p:spPr>
          <a:xfrm>
            <a:off x="6995160" y="3840480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6"/>
          <p:cNvSpPr txBox="1"/>
          <p:nvPr/>
        </p:nvSpPr>
        <p:spPr>
          <a:xfrm>
            <a:off x="7059168" y="3931920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Kirkpatrick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8549640" y="3931920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medir aprendizaje y aplicación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6"/>
          <p:cNvCxnSpPr/>
          <p:nvPr/>
        </p:nvCxnSpPr>
        <p:spPr>
          <a:xfrm>
            <a:off x="6995160" y="4187952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6"/>
          <p:cNvSpPr/>
          <p:nvPr/>
        </p:nvSpPr>
        <p:spPr>
          <a:xfrm>
            <a:off x="6995160" y="4956048"/>
            <a:ext cx="420624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 txBox="1"/>
          <p:nvPr/>
        </p:nvSpPr>
        <p:spPr>
          <a:xfrm>
            <a:off x="7196328" y="507492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7196328" y="530352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1060"/>
              <a:buFont typeface="Arial"/>
              <a:buNone/>
            </a:pPr>
            <a:r>
              <a:rPr b="1" i="0" lang="en-US" sz="106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Capital humano preparado para sostener procesos gestionados.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10881360" y="6510528"/>
            <a:ext cx="777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BC7D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BC7D4"/>
                </a:solidFill>
                <a:latin typeface="Arial"/>
                <a:ea typeface="Arial"/>
                <a:cs typeface="Arial"/>
                <a:sym typeface="Arial"/>
              </a:rPr>
              <a:t>Fase 4 de 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153A63"/>
          </a:solidFill>
          <a:ln cap="flat" cmpd="sng" w="12700">
            <a:solidFill>
              <a:srgbClr val="153A6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621792" y="164592"/>
            <a:ext cx="822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6D8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B9C6D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 txBox="1"/>
          <p:nvPr/>
        </p:nvSpPr>
        <p:spPr>
          <a:xfrm>
            <a:off x="1691640" y="45720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🚀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 txBox="1"/>
          <p:nvPr/>
        </p:nvSpPr>
        <p:spPr>
          <a:xfrm>
            <a:off x="2926080" y="65836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9A1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F4C9A1"/>
                </a:solidFill>
                <a:latin typeface="Arial"/>
                <a:ea typeface="Arial"/>
                <a:cs typeface="Arial"/>
                <a:sym typeface="Arial"/>
              </a:rPr>
              <a:t>E J E C U C I Ó N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2926080" y="896112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Despliegue y Ejecución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9966960" y="41148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528816" y="1737360"/>
            <a:ext cx="5662879" cy="5120640"/>
          </a:xfrm>
          <a:prstGeom prst="rect">
            <a:avLst/>
          </a:prstGeom>
          <a:solidFill>
            <a:srgbClr val="F2F6FC"/>
          </a:solidFill>
          <a:ln cap="flat" cmpd="sng" w="12700">
            <a:solidFill>
              <a:srgbClr val="F2F6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658368" y="2148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QUÉ SE HACE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685800" y="256032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987552" y="2542032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Implementar el piloto en el módulo de ventas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685800" y="294436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987552" y="2926080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Recopilar métricas desde el primer sprint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685800" y="3328416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987552" y="3310128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Automatizar logs, dashboard y cálculo de KPIs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685800" y="3712464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987552" y="3694176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Institucionalizar revisiones y acciones correctivas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658368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 txBox="1"/>
          <p:nvPr/>
        </p:nvSpPr>
        <p:spPr>
          <a:xfrm>
            <a:off x="658368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1188720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 txBox="1"/>
          <p:nvPr/>
        </p:nvSpPr>
        <p:spPr>
          <a:xfrm>
            <a:off x="1188720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1719072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 txBox="1"/>
          <p:nvPr/>
        </p:nvSpPr>
        <p:spPr>
          <a:xfrm>
            <a:off x="1719072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TS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2249424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 txBox="1"/>
          <p:nvPr/>
        </p:nvSpPr>
        <p:spPr>
          <a:xfrm>
            <a:off x="2249424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2779776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 txBox="1"/>
          <p:nvPr/>
        </p:nvSpPr>
        <p:spPr>
          <a:xfrm>
            <a:off x="2779776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RDM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3378708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 txBox="1"/>
          <p:nvPr/>
        </p:nvSpPr>
        <p:spPr>
          <a:xfrm>
            <a:off x="3378708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MPM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658368" y="4462272"/>
            <a:ext cx="539496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5225">
            <a:solidFill>
              <a:srgbClr val="20A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 txBox="1"/>
          <p:nvPr/>
        </p:nvSpPr>
        <p:spPr>
          <a:xfrm>
            <a:off x="841248" y="4590288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5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1F7A50"/>
                </a:solidFill>
                <a:latin typeface="Arial"/>
                <a:ea typeface="Arial"/>
                <a:cs typeface="Arial"/>
                <a:sym typeface="Arial"/>
              </a:rPr>
              <a:t>📄  ENTREGABLE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 txBox="1"/>
          <p:nvPr/>
        </p:nvSpPr>
        <p:spPr>
          <a:xfrm>
            <a:off x="841248" y="4828032"/>
            <a:ext cx="4892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462C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10462C"/>
                </a:solidFill>
                <a:latin typeface="Arial"/>
                <a:ea typeface="Arial"/>
                <a:cs typeface="Arial"/>
                <a:sym typeface="Arial"/>
              </a:rPr>
              <a:t>Procesos Piloto y Resultados de Medición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6995160" y="21488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HERRAMIENTAS &amp; TÉCNICAS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 txBox="1"/>
          <p:nvPr/>
        </p:nvSpPr>
        <p:spPr>
          <a:xfrm>
            <a:off x="7059168" y="2542032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Proyecto piloto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 txBox="1"/>
          <p:nvPr/>
        </p:nvSpPr>
        <p:spPr>
          <a:xfrm>
            <a:off x="8549640" y="2542032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ventas como primera unidad controlada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p7"/>
          <p:cNvCxnSpPr/>
          <p:nvPr/>
        </p:nvCxnSpPr>
        <p:spPr>
          <a:xfrm>
            <a:off x="6995160" y="2798064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7"/>
          <p:cNvSpPr txBox="1"/>
          <p:nvPr/>
        </p:nvSpPr>
        <p:spPr>
          <a:xfrm>
            <a:off x="7059168" y="288950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Dashboard KPI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 txBox="1"/>
          <p:nvPr/>
        </p:nvSpPr>
        <p:spPr>
          <a:xfrm>
            <a:off x="8549640" y="2889504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/dashboard-metrics y /api/metrics/lineabase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7"/>
          <p:cNvCxnSpPr/>
          <p:nvPr/>
        </p:nvCxnSpPr>
        <p:spPr>
          <a:xfrm>
            <a:off x="6995160" y="3145536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7"/>
          <p:cNvSpPr txBox="1"/>
          <p:nvPr/>
        </p:nvSpPr>
        <p:spPr>
          <a:xfrm>
            <a:off x="7059168" y="3236976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CI/CD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7"/>
          <p:cNvSpPr txBox="1"/>
          <p:nvPr/>
        </p:nvSpPr>
        <p:spPr>
          <a:xfrm>
            <a:off x="8549640" y="3236976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automatizar pruebas y despliegue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7"/>
          <p:cNvCxnSpPr/>
          <p:nvPr/>
        </p:nvCxnSpPr>
        <p:spPr>
          <a:xfrm>
            <a:off x="6995160" y="3493008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7"/>
          <p:cNvSpPr txBox="1"/>
          <p:nvPr/>
        </p:nvSpPr>
        <p:spPr>
          <a:xfrm>
            <a:off x="7059168" y="3584448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Control versiones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"/>
          <p:cNvSpPr txBox="1"/>
          <p:nvPr/>
        </p:nvSpPr>
        <p:spPr>
          <a:xfrm>
            <a:off x="8549640" y="3584448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políticas de ramas, baseline y respaldo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p7"/>
          <p:cNvCxnSpPr/>
          <p:nvPr/>
        </p:nvCxnSpPr>
        <p:spPr>
          <a:xfrm>
            <a:off x="6995160" y="3840480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7"/>
          <p:cNvSpPr txBox="1"/>
          <p:nvPr/>
        </p:nvSpPr>
        <p:spPr>
          <a:xfrm>
            <a:off x="7059168" y="3931920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Status reviews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7"/>
          <p:cNvSpPr txBox="1"/>
          <p:nvPr/>
        </p:nvSpPr>
        <p:spPr>
          <a:xfrm>
            <a:off x="8549640" y="3931920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seguimiento quincenal del plan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p7"/>
          <p:cNvCxnSpPr/>
          <p:nvPr/>
        </p:nvCxnSpPr>
        <p:spPr>
          <a:xfrm>
            <a:off x="6995160" y="4187952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7"/>
          <p:cNvSpPr/>
          <p:nvPr/>
        </p:nvSpPr>
        <p:spPr>
          <a:xfrm>
            <a:off x="6995160" y="4956048"/>
            <a:ext cx="420624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"/>
          <p:cNvSpPr txBox="1"/>
          <p:nvPr/>
        </p:nvSpPr>
        <p:spPr>
          <a:xfrm>
            <a:off x="7196328" y="507492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AUTOMATIZACIÓN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7"/>
          <p:cNvSpPr txBox="1"/>
          <p:nvPr/>
        </p:nvSpPr>
        <p:spPr>
          <a:xfrm>
            <a:off x="7196328" y="530352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1060"/>
              <a:buFont typeface="Arial"/>
              <a:buNone/>
            </a:pPr>
            <a:r>
              <a:rPr b="1" i="0" lang="en-US" sz="106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Logs → cron job → tabla de métricas → dashboard gerencial.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7"/>
          <p:cNvSpPr txBox="1"/>
          <p:nvPr/>
        </p:nvSpPr>
        <p:spPr>
          <a:xfrm>
            <a:off x="10881360" y="6510528"/>
            <a:ext cx="777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BC7D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BC7D4"/>
                </a:solidFill>
                <a:latin typeface="Arial"/>
                <a:ea typeface="Arial"/>
                <a:cs typeface="Arial"/>
                <a:sym typeface="Arial"/>
              </a:rPr>
              <a:t>Fase 5 de 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49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"/>
          <p:cNvSpPr txBox="1"/>
          <p:nvPr/>
        </p:nvSpPr>
        <p:spPr>
          <a:xfrm>
            <a:off x="3127248" y="126187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es una línea recta</a:t>
            </a:r>
            <a:r>
              <a:rPr b="1" lang="en-US" sz="2600">
                <a:solidFill>
                  <a:srgbClr val="FFFFFF"/>
                </a:solidFill>
              </a:rPr>
              <a:t>, </a:t>
            </a: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un ciclo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5632704" y="2139696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🔄</a:t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3127248" y="3172968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3F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6E3F1"/>
                </a:solidFill>
                <a:latin typeface="Arial"/>
                <a:ea typeface="Arial"/>
                <a:cs typeface="Arial"/>
                <a:sym typeface="Arial"/>
              </a:rPr>
              <a:t>La Fase 7 </a:t>
            </a:r>
            <a:r>
              <a:rPr lang="en-US" sz="1300">
                <a:solidFill>
                  <a:srgbClr val="D6E3F1"/>
                </a:solidFill>
              </a:rPr>
              <a:t>retro-alimenta</a:t>
            </a:r>
            <a:r>
              <a:rPr b="0" i="0" lang="en-US" sz="1300" u="none" cap="none" strike="noStrike">
                <a:solidFill>
                  <a:srgbClr val="D6E3F1"/>
                </a:solidFill>
                <a:latin typeface="Arial"/>
                <a:ea typeface="Arial"/>
                <a:cs typeface="Arial"/>
                <a:sym typeface="Arial"/>
              </a:rPr>
              <a:t> a la Fase 1: </a:t>
            </a:r>
            <a:r>
              <a:rPr lang="en-US" sz="1300">
                <a:solidFill>
                  <a:srgbClr val="D6E3F1"/>
                </a:solidFill>
              </a:rPr>
              <a:t>Las </a:t>
            </a:r>
            <a:r>
              <a:rPr b="0" i="0" lang="en-US" sz="1300" u="none" cap="none" strike="noStrike">
                <a:solidFill>
                  <a:srgbClr val="D6E3F1"/>
                </a:solidFill>
                <a:latin typeface="Arial"/>
                <a:ea typeface="Arial"/>
                <a:cs typeface="Arial"/>
                <a:sym typeface="Arial"/>
              </a:rPr>
              <a:t>métricas, auditorías y lecciones aprendidas generan un nuevo diagnóstico sobre una organización más madura.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3083350" y="4113424"/>
            <a:ext cx="1099500" cy="256800"/>
          </a:xfrm>
          <a:prstGeom prst="roundRect">
            <a:avLst>
              <a:gd fmla="val 28000" name="adj"/>
            </a:avLst>
          </a:prstGeom>
          <a:solidFill>
            <a:srgbClr val="314C6D"/>
          </a:solidFill>
          <a:ln cap="flat" cmpd="sng" w="10700">
            <a:solidFill>
              <a:srgbClr val="51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725" lIns="102725" spcFirstLastPara="1" rIns="102725" wrap="square" tIns="102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39" name="Google Shape;339;p10"/>
          <p:cNvSpPr txBox="1"/>
          <p:nvPr/>
        </p:nvSpPr>
        <p:spPr>
          <a:xfrm>
            <a:off x="3114174" y="4175074"/>
            <a:ext cx="1037700" cy="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649"/>
              <a:buFont typeface="Arial"/>
              <a:buNone/>
            </a:pPr>
            <a:r>
              <a:rPr b="0" i="0" lang="en-US" sz="949" u="none" cap="none" strike="noStrike">
                <a:solidFill>
                  <a:srgbClr val="DCE7F3"/>
                </a:solidFill>
                <a:latin typeface="Arial"/>
                <a:ea typeface="Arial"/>
                <a:cs typeface="Arial"/>
                <a:sym typeface="Arial"/>
              </a:rPr>
              <a:t>Gobierno</a:t>
            </a:r>
            <a:endParaRPr b="0" i="0" sz="94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4316324" y="4113424"/>
            <a:ext cx="1099500" cy="256800"/>
          </a:xfrm>
          <a:prstGeom prst="roundRect">
            <a:avLst>
              <a:gd fmla="val 28000" name="adj"/>
            </a:avLst>
          </a:prstGeom>
          <a:solidFill>
            <a:srgbClr val="314C6D"/>
          </a:solidFill>
          <a:ln cap="flat" cmpd="sng" w="10700">
            <a:solidFill>
              <a:srgbClr val="51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725" lIns="102725" spcFirstLastPara="1" rIns="102725" wrap="square" tIns="102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1" name="Google Shape;341;p10"/>
          <p:cNvSpPr txBox="1"/>
          <p:nvPr/>
        </p:nvSpPr>
        <p:spPr>
          <a:xfrm>
            <a:off x="4347149" y="4175074"/>
            <a:ext cx="1037700" cy="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649"/>
              <a:buFont typeface="Arial"/>
              <a:buNone/>
            </a:pPr>
            <a:r>
              <a:rPr b="0" i="0" lang="en-US" sz="949" u="none" cap="none" strike="noStrike">
                <a:solidFill>
                  <a:srgbClr val="DCE7F3"/>
                </a:solidFill>
                <a:latin typeface="Arial"/>
                <a:ea typeface="Arial"/>
                <a:cs typeface="Arial"/>
                <a:sym typeface="Arial"/>
              </a:rPr>
              <a:t>Medición</a:t>
            </a:r>
            <a:endParaRPr b="0" i="0" sz="94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5549299" y="4113424"/>
            <a:ext cx="1099500" cy="256800"/>
          </a:xfrm>
          <a:prstGeom prst="roundRect">
            <a:avLst>
              <a:gd fmla="val 28000" name="adj"/>
            </a:avLst>
          </a:prstGeom>
          <a:solidFill>
            <a:srgbClr val="314C6D"/>
          </a:solidFill>
          <a:ln cap="flat" cmpd="sng" w="10700">
            <a:solidFill>
              <a:srgbClr val="51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725" lIns="102725" spcFirstLastPara="1" rIns="102725" wrap="square" tIns="102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3" name="Google Shape;343;p10"/>
          <p:cNvSpPr txBox="1"/>
          <p:nvPr/>
        </p:nvSpPr>
        <p:spPr>
          <a:xfrm>
            <a:off x="5580123" y="4175074"/>
            <a:ext cx="1037700" cy="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649"/>
              <a:buFont typeface="Arial"/>
              <a:buNone/>
            </a:pPr>
            <a:r>
              <a:rPr b="0" i="0" lang="en-US" sz="949" u="none" cap="none" strike="noStrike">
                <a:solidFill>
                  <a:srgbClr val="DCE7F3"/>
                </a:solidFill>
                <a:latin typeface="Arial"/>
                <a:ea typeface="Arial"/>
                <a:cs typeface="Arial"/>
                <a:sym typeface="Arial"/>
              </a:rPr>
              <a:t>Verificación</a:t>
            </a:r>
            <a:endParaRPr b="0" i="0" sz="94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6782273" y="4113424"/>
            <a:ext cx="1099500" cy="256800"/>
          </a:xfrm>
          <a:prstGeom prst="roundRect">
            <a:avLst>
              <a:gd fmla="val 28000" name="adj"/>
            </a:avLst>
          </a:prstGeom>
          <a:solidFill>
            <a:srgbClr val="314C6D"/>
          </a:solidFill>
          <a:ln cap="flat" cmpd="sng" w="10700">
            <a:solidFill>
              <a:srgbClr val="51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725" lIns="102725" spcFirstLastPara="1" rIns="102725" wrap="square" tIns="102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5" name="Google Shape;345;p10"/>
          <p:cNvSpPr txBox="1"/>
          <p:nvPr/>
        </p:nvSpPr>
        <p:spPr>
          <a:xfrm>
            <a:off x="6813097" y="4175074"/>
            <a:ext cx="1037700" cy="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649"/>
              <a:buFont typeface="Arial"/>
              <a:buNone/>
            </a:pPr>
            <a:r>
              <a:rPr b="0" i="0" lang="en-US" sz="949" u="none" cap="none" strike="noStrike">
                <a:solidFill>
                  <a:srgbClr val="DCE7F3"/>
                </a:solidFill>
                <a:latin typeface="Arial"/>
                <a:ea typeface="Arial"/>
                <a:cs typeface="Arial"/>
                <a:sym typeface="Arial"/>
              </a:rPr>
              <a:t>Aprendizaje</a:t>
            </a:r>
            <a:endParaRPr b="0" i="0" sz="94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8015248" y="4113424"/>
            <a:ext cx="1099500" cy="256800"/>
          </a:xfrm>
          <a:prstGeom prst="roundRect">
            <a:avLst>
              <a:gd fmla="val 28000" name="adj"/>
            </a:avLst>
          </a:prstGeom>
          <a:solidFill>
            <a:srgbClr val="314C6D"/>
          </a:solidFill>
          <a:ln cap="flat" cmpd="sng" w="10700">
            <a:solidFill>
              <a:srgbClr val="51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725" lIns="102725" spcFirstLastPara="1" rIns="102725" wrap="square" tIns="102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7" name="Google Shape;347;p10"/>
          <p:cNvSpPr txBox="1"/>
          <p:nvPr/>
        </p:nvSpPr>
        <p:spPr>
          <a:xfrm>
            <a:off x="8046072" y="4175074"/>
            <a:ext cx="1037700" cy="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649"/>
              <a:buFont typeface="Arial"/>
              <a:buNone/>
            </a:pPr>
            <a:r>
              <a:rPr b="0" i="0" lang="en-US" sz="949" u="none" cap="none" strike="noStrike">
                <a:solidFill>
                  <a:srgbClr val="DCE7F3"/>
                </a:solidFill>
                <a:latin typeface="Arial"/>
                <a:ea typeface="Arial"/>
                <a:cs typeface="Arial"/>
                <a:sym typeface="Arial"/>
              </a:rPr>
              <a:t>Innovación</a:t>
            </a:r>
            <a:endParaRPr b="0" i="0" sz="94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9509760" y="6492240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CADC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B8CADC"/>
                </a:solidFill>
                <a:latin typeface="Arial"/>
                <a:ea typeface="Arial"/>
                <a:cs typeface="Arial"/>
                <a:sym typeface="Arial"/>
              </a:rPr>
              <a:t>CMMI® V3.0 · Material explicativo adaptado del informe Word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2026-06-20T04:59:43Z</dcterms:created>
  <dc:creator>OpenAI</dc:creator>
</cp:coreProperties>
</file>